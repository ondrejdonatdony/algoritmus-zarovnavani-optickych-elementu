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308" r:id="rId2"/>
    <p:sldId id="314" r:id="rId3"/>
    <p:sldId id="327" r:id="rId4"/>
    <p:sldId id="336" r:id="rId5"/>
    <p:sldId id="335" r:id="rId6"/>
    <p:sldId id="337" r:id="rId7"/>
    <p:sldId id="338" r:id="rId8"/>
    <p:sldId id="339" r:id="rId9"/>
    <p:sldId id="340" r:id="rId10"/>
    <p:sldId id="330" r:id="rId11"/>
    <p:sldId id="331" r:id="rId12"/>
    <p:sldId id="332" r:id="rId13"/>
    <p:sldId id="322" r:id="rId14"/>
  </p:sldIdLst>
  <p:sldSz cx="9144000" cy="5143500" type="screen16x9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7603"/>
    <a:srgbClr val="5948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E2CD"/>
          </a:solidFill>
        </a:fill>
      </a:tcStyle>
    </a:wholeTbl>
    <a:band2H>
      <a:tcTxStyle/>
      <a:tcStyle>
        <a:tcBdr/>
        <a:fill>
          <a:solidFill>
            <a:srgbClr val="FF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5DBDE"/>
          </a:solidFill>
        </a:fill>
      </a:tcStyle>
    </a:wholeTbl>
    <a:band2H>
      <a:tcTxStyle/>
      <a:tcStyle>
        <a:tcBdr/>
        <a:fill>
          <a:solidFill>
            <a:srgbClr val="EBEEE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8FFCD"/>
          </a:solidFill>
        </a:fill>
      </a:tcStyle>
    </a:wholeTbl>
    <a:band2H>
      <a:tcTxStyle/>
      <a:tcStyle>
        <a:tcBdr/>
        <a:fill>
          <a:solidFill>
            <a:srgbClr val="FCFF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59"/>
  </p:normalViewPr>
  <p:slideViewPr>
    <p:cSldViewPr snapToGrid="0" snapToObjects="1">
      <p:cViewPr>
        <p:scale>
          <a:sx n="150" d="100"/>
          <a:sy n="150" d="100"/>
        </p:scale>
        <p:origin x="108" y="-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95" d="100"/>
          <a:sy n="95" d="100"/>
        </p:scale>
        <p:origin x="358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1C68B45-3651-144C-9B42-ECFFE315109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8957582-AB2F-6945-BF77-BD7DE7B090C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B667F0-AAF2-1C40-8CBB-C161C73BDB1E}" type="datetimeFigureOut">
              <a:rPr lang="en-CZ" smtClean="0"/>
              <a:t>04/01/2026</a:t>
            </a:fld>
            <a:endParaRPr lang="en-C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24A7D9-EF62-3A47-86DF-C907FD53C55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BA8DF4-B159-1F45-A0BE-816E4D0C71C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F7A96C-A851-C743-AA2E-E27D6B4FD2D8}" type="slidenum">
              <a:rPr lang="en-CZ" smtClean="0"/>
              <a:t>‹#›</a:t>
            </a:fld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4018718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Shape 106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07" name="Shape 107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n-lt"/>
        <a:ea typeface="+mn-ea"/>
        <a:cs typeface="+mn-cs"/>
        <a:sym typeface="Arial"/>
      </a:defRPr>
    </a:lvl1pPr>
    <a:lvl2pPr indent="228600" latinLnBrk="0">
      <a:defRPr sz="1400">
        <a:latin typeface="+mn-lt"/>
        <a:ea typeface="+mn-ea"/>
        <a:cs typeface="+mn-cs"/>
        <a:sym typeface="Arial"/>
      </a:defRPr>
    </a:lvl2pPr>
    <a:lvl3pPr indent="457200" latinLnBrk="0">
      <a:defRPr sz="1400">
        <a:latin typeface="+mn-lt"/>
        <a:ea typeface="+mn-ea"/>
        <a:cs typeface="+mn-cs"/>
        <a:sym typeface="Arial"/>
      </a:defRPr>
    </a:lvl3pPr>
    <a:lvl4pPr indent="685800" latinLnBrk="0">
      <a:defRPr sz="1400">
        <a:latin typeface="+mn-lt"/>
        <a:ea typeface="+mn-ea"/>
        <a:cs typeface="+mn-cs"/>
        <a:sym typeface="Arial"/>
      </a:defRPr>
    </a:lvl4pPr>
    <a:lvl5pPr indent="914400" latinLnBrk="0">
      <a:defRPr sz="1400">
        <a:latin typeface="+mn-lt"/>
        <a:ea typeface="+mn-ea"/>
        <a:cs typeface="+mn-cs"/>
        <a:sym typeface="Arial"/>
      </a:defRPr>
    </a:lvl5pPr>
    <a:lvl6pPr indent="1143000" latinLnBrk="0">
      <a:defRPr sz="1400">
        <a:latin typeface="+mn-lt"/>
        <a:ea typeface="+mn-ea"/>
        <a:cs typeface="+mn-cs"/>
        <a:sym typeface="Arial"/>
      </a:defRPr>
    </a:lvl6pPr>
    <a:lvl7pPr indent="1371600" latinLnBrk="0">
      <a:defRPr sz="1400">
        <a:latin typeface="+mn-lt"/>
        <a:ea typeface="+mn-ea"/>
        <a:cs typeface="+mn-cs"/>
        <a:sym typeface="Arial"/>
      </a:defRPr>
    </a:lvl7pPr>
    <a:lvl8pPr indent="1600200" latinLnBrk="0">
      <a:defRPr sz="1400">
        <a:latin typeface="+mn-lt"/>
        <a:ea typeface="+mn-ea"/>
        <a:cs typeface="+mn-cs"/>
        <a:sym typeface="Arial"/>
      </a:defRPr>
    </a:lvl8pPr>
    <a:lvl9pPr indent="1828800" latinLnBrk="0">
      <a:defRPr sz="1400">
        <a:latin typeface="+mn-lt"/>
        <a:ea typeface="+mn-ea"/>
        <a:cs typeface="+mn-cs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18800" y="3672909"/>
            <a:ext cx="7560001" cy="1218591"/>
          </a:xfrm>
          <a:prstGeom prst="rect">
            <a:avLst/>
          </a:prstGeom>
        </p:spPr>
        <p:txBody>
          <a:bodyPr lIns="0" anchor="b" anchorCtr="0">
            <a:noAutofit/>
          </a:bodyPr>
          <a:lstStyle>
            <a:lvl1pPr marL="342900" indent="-228600" algn="l">
              <a:lnSpc>
                <a:spcPct val="100000"/>
              </a:lnSpc>
              <a:buClrTx/>
              <a:buSzTx/>
              <a:buFontTx/>
              <a:buNone/>
              <a:defRPr sz="1400">
                <a:solidFill>
                  <a:schemeClr val="bg1"/>
                </a:solidFill>
              </a:defRPr>
            </a:lvl1pPr>
            <a:lvl2pPr marL="342900" indent="254000" algn="l">
              <a:lnSpc>
                <a:spcPct val="100000"/>
              </a:lnSpc>
              <a:buClrTx/>
              <a:buSzTx/>
              <a:buFontTx/>
              <a:buNone/>
              <a:defRPr sz="1400">
                <a:solidFill>
                  <a:schemeClr val="bg1"/>
                </a:solidFill>
              </a:defRPr>
            </a:lvl2pPr>
            <a:lvl3pPr marL="342900" indent="711200" algn="l">
              <a:lnSpc>
                <a:spcPct val="100000"/>
              </a:lnSpc>
              <a:buClrTx/>
              <a:buSzTx/>
              <a:buFontTx/>
              <a:buNone/>
              <a:defRPr sz="1400">
                <a:solidFill>
                  <a:schemeClr val="bg1"/>
                </a:solidFill>
              </a:defRPr>
            </a:lvl3pPr>
            <a:lvl4pPr marL="342900" indent="1168400" algn="l">
              <a:lnSpc>
                <a:spcPct val="100000"/>
              </a:lnSpc>
              <a:buClrTx/>
              <a:buSzTx/>
              <a:buFontTx/>
              <a:buNone/>
              <a:defRPr sz="1400">
                <a:solidFill>
                  <a:schemeClr val="bg1"/>
                </a:solidFill>
              </a:defRPr>
            </a:lvl4pPr>
            <a:lvl5pPr marL="342900" indent="1625600" algn="l">
              <a:lnSpc>
                <a:spcPct val="100000"/>
              </a:lnSpc>
              <a:buClrTx/>
              <a:buSzTx/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cs-CZ" noProof="0"/>
              <a:t>Body Level One</a:t>
            </a:r>
          </a:p>
          <a:p>
            <a:pPr lvl="1"/>
            <a:r>
              <a:rPr lang="cs-CZ" noProof="0"/>
              <a:t>Body Level Two</a:t>
            </a:r>
          </a:p>
          <a:p>
            <a:pPr lvl="2"/>
            <a:r>
              <a:rPr lang="cs-CZ" noProof="0"/>
              <a:t>Body Level Three</a:t>
            </a:r>
          </a:p>
          <a:p>
            <a:pPr lvl="3"/>
            <a:r>
              <a:rPr lang="cs-CZ" noProof="0"/>
              <a:t>Body Level Four</a:t>
            </a:r>
          </a:p>
          <a:p>
            <a:pPr lvl="4"/>
            <a:r>
              <a:rPr lang="cs-CZ" noProof="0"/>
              <a:t>Body Level Five</a:t>
            </a:r>
          </a:p>
        </p:txBody>
      </p:sp>
      <p:sp>
        <p:nvSpPr>
          <p:cNvPr id="6" name="Title Text">
            <a:extLst>
              <a:ext uri="{FF2B5EF4-FFF2-40B4-BE49-F238E27FC236}">
                <a16:creationId xmlns:a16="http://schemas.microsoft.com/office/drawing/2014/main" id="{A72E2942-9AC5-6E47-9216-30E885FB5B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251999" y="1470590"/>
            <a:ext cx="7560000" cy="1661409"/>
          </a:xfrm>
          <a:prstGeom prst="rect">
            <a:avLst/>
          </a:prstGeom>
        </p:spPr>
        <p:txBody>
          <a:bodyPr lIns="0" anchor="t" anchorCtr="0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cs-CZ" noProof="0"/>
              <a:t>Title Text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1FD7B1-E0AD-5042-856D-7A5E7BF3905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999" y="252000"/>
            <a:ext cx="8640000" cy="795828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679430" y="4690756"/>
            <a:ext cx="341728" cy="33852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6CB4B4D-7CA3-9044-876B-883B54F8677D}" type="slidenum">
              <a:rPr lang="en-CZ" smtClean="0"/>
              <a:pPr/>
              <a:t>‹#›</a:t>
            </a:fld>
            <a:endParaRPr lang="en-CZ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D00B212-B963-B541-AB2C-C86A83561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01" y="1682229"/>
            <a:ext cx="7560000" cy="1800000"/>
          </a:xfrm>
        </p:spPr>
        <p:txBody>
          <a:bodyPr lIns="0" anchor="t">
            <a:norm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endParaRPr lang="en-CZ" sz="4000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524CCA-31EC-AA4F-ADA0-E868D4F8EF8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4608000"/>
            <a:ext cx="1638318" cy="288000"/>
          </a:xfrm>
          <a:prstGeom prst="rect">
            <a:avLst/>
          </a:prstGeom>
        </p:spPr>
      </p:pic>
      <p:sp>
        <p:nvSpPr>
          <p:cNvPr id="8" name="Zástupný symbol pro zápatí 4">
            <a:extLst>
              <a:ext uri="{FF2B5EF4-FFF2-40B4-BE49-F238E27FC236}">
                <a16:creationId xmlns:a16="http://schemas.microsoft.com/office/drawing/2014/main" id="{0E833723-F317-4C40-A4EF-C74D82F4D8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99" y="209500"/>
            <a:ext cx="7560000" cy="365125"/>
          </a:xfrm>
          <a:prstGeom prst="rect">
            <a:avLst/>
          </a:prstGeom>
        </p:spPr>
        <p:txBody>
          <a:bodyPr vert="horz" lIns="0" tIns="0" rIns="91440" bIns="45720" rtlCol="0" anchor="t" anchorCtr="0"/>
          <a:lstStyle>
            <a:lvl1pPr algn="l">
              <a:defRPr sz="1400">
                <a:solidFill>
                  <a:schemeClr val="bg1"/>
                </a:solidFill>
              </a:defRPr>
            </a:lvl1pPr>
          </a:lstStyle>
          <a:p>
            <a:r>
              <a:rPr lang="cs-CZ"/>
              <a:t>Název prezentace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479743000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251999" y="770784"/>
            <a:ext cx="7560000" cy="2361215"/>
          </a:xfrm>
          <a:prstGeom prst="rect">
            <a:avLst/>
          </a:prstGeom>
        </p:spPr>
        <p:txBody>
          <a:bodyPr lIns="0" anchor="ctr"/>
          <a:lstStyle>
            <a:lvl1pPr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cs-CZ" noProof="0" dirty="0" err="1"/>
              <a:t>Title</a:t>
            </a:r>
            <a:r>
              <a:rPr lang="cs-CZ" noProof="0" dirty="0"/>
              <a:t> Text</a:t>
            </a:r>
          </a:p>
        </p:txBody>
      </p:sp>
      <p:sp>
        <p:nvSpPr>
          <p:cNvPr id="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5" name="Body Level One…">
            <a:extLst>
              <a:ext uri="{FF2B5EF4-FFF2-40B4-BE49-F238E27FC236}">
                <a16:creationId xmlns:a16="http://schemas.microsoft.com/office/drawing/2014/main" id="{6A91278C-EE2F-154C-A334-789EFD7AC271}"/>
              </a:ext>
            </a:extLst>
          </p:cNvPr>
          <p:cNvSpPr txBox="1">
            <a:spLocks noGrp="1"/>
          </p:cNvSpPr>
          <p:nvPr>
            <p:ph type="body" idx="1" hasCustomPrompt="1"/>
          </p:nvPr>
        </p:nvSpPr>
        <p:spPr>
          <a:xfrm>
            <a:off x="252000" y="3132000"/>
            <a:ext cx="7560000" cy="1436875"/>
          </a:xfrm>
          <a:prstGeom prst="rect">
            <a:avLst/>
          </a:prstGeom>
        </p:spPr>
        <p:txBody>
          <a:bodyPr lIns="0"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r>
              <a:rPr lang="cs-CZ" noProof="0" dirty="0"/>
              <a:t>Body Level </a:t>
            </a:r>
            <a:r>
              <a:rPr lang="cs-CZ" noProof="0" dirty="0" err="1"/>
              <a:t>One</a:t>
            </a:r>
            <a:endParaRPr lang="cs-CZ" noProof="0" dirty="0"/>
          </a:p>
          <a:p>
            <a:pPr lvl="1"/>
            <a:r>
              <a:rPr lang="cs-CZ" noProof="0" dirty="0"/>
              <a:t>Body Level </a:t>
            </a:r>
            <a:r>
              <a:rPr lang="cs-CZ" noProof="0" dirty="0" err="1"/>
              <a:t>Two</a:t>
            </a:r>
            <a:endParaRPr lang="cs-CZ" noProof="0" dirty="0"/>
          </a:p>
          <a:p>
            <a:pPr lvl="2"/>
            <a:r>
              <a:rPr lang="cs-CZ" noProof="0" dirty="0"/>
              <a:t>Body Level </a:t>
            </a:r>
            <a:r>
              <a:rPr lang="cs-CZ" noProof="0" dirty="0" err="1"/>
              <a:t>Three</a:t>
            </a:r>
            <a:endParaRPr lang="cs-CZ" noProof="0" dirty="0"/>
          </a:p>
          <a:p>
            <a:pPr lvl="3"/>
            <a:r>
              <a:rPr lang="cs-CZ" noProof="0" dirty="0"/>
              <a:t>Body Level </a:t>
            </a:r>
            <a:r>
              <a:rPr lang="cs-CZ" noProof="0" dirty="0" err="1"/>
              <a:t>Four</a:t>
            </a:r>
            <a:endParaRPr lang="cs-CZ" noProof="0" dirty="0"/>
          </a:p>
          <a:p>
            <a:pPr lvl="4"/>
            <a:r>
              <a:rPr lang="cs-CZ" noProof="0" dirty="0"/>
              <a:t>Body Level </a:t>
            </a:r>
            <a:r>
              <a:rPr lang="cs-CZ" noProof="0" dirty="0" err="1"/>
              <a:t>Five</a:t>
            </a:r>
            <a:endParaRPr lang="cs-CZ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275B87D-F962-0347-9971-EF6620BC2C2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4608000"/>
            <a:ext cx="1638318" cy="288000"/>
          </a:xfrm>
          <a:prstGeom prst="rect">
            <a:avLst/>
          </a:prstGeom>
        </p:spPr>
      </p:pic>
      <p:sp>
        <p:nvSpPr>
          <p:cNvPr id="7" name="Zástupný symbol pro datum 3">
            <a:extLst>
              <a:ext uri="{FF2B5EF4-FFF2-40B4-BE49-F238E27FC236}">
                <a16:creationId xmlns:a16="http://schemas.microsoft.com/office/drawing/2014/main" id="{48BE41EB-DA34-4014-BDB3-313A9AAD7F97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7882673" y="209500"/>
            <a:ext cx="1139279" cy="365125"/>
          </a:xfrm>
          <a:prstGeom prst="rect">
            <a:avLst/>
          </a:prstGeom>
        </p:spPr>
        <p:txBody>
          <a:bodyPr vert="horz" lIns="91440" tIns="45720" rIns="91440" bIns="45720" rtlCol="0" anchor="t" anchorCtr="0"/>
          <a:lstStyle>
            <a:lvl1pPr algn="r">
              <a:defRPr sz="1000">
                <a:solidFill>
                  <a:srgbClr val="595959"/>
                </a:solidFill>
              </a:defRPr>
            </a:lvl1pPr>
          </a:lstStyle>
          <a:p>
            <a:fld id="{250028DA-67BE-4319-9956-88135556FCE7}" type="datetime1">
              <a:rPr lang="cs-CZ" smtClean="0"/>
              <a:t>01.04.2026</a:t>
            </a:fld>
            <a:endParaRPr lang="cs-CZ" dirty="0"/>
          </a:p>
        </p:txBody>
      </p:sp>
      <p:sp>
        <p:nvSpPr>
          <p:cNvPr id="10" name="Zástupný symbol pro zápatí 4">
            <a:extLst>
              <a:ext uri="{FF2B5EF4-FFF2-40B4-BE49-F238E27FC236}">
                <a16:creationId xmlns:a16="http://schemas.microsoft.com/office/drawing/2014/main" id="{EB18B1ED-13FC-4105-8991-0EE16B476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99" y="209500"/>
            <a:ext cx="7560000" cy="365125"/>
          </a:xfrm>
          <a:prstGeom prst="rect">
            <a:avLst/>
          </a:prstGeom>
        </p:spPr>
        <p:txBody>
          <a:bodyPr vert="horz" lIns="0" tIns="0" rIns="91440" bIns="45720" rtlCol="0" anchor="t" anchorCtr="0"/>
          <a:lstStyle>
            <a:lvl1pPr algn="l">
              <a:defRPr sz="1400">
                <a:solidFill>
                  <a:srgbClr val="EA7603"/>
                </a:solidFill>
              </a:defRPr>
            </a:lvl1pPr>
          </a:lstStyle>
          <a:p>
            <a:r>
              <a:rPr lang="cs-CZ" dirty="0"/>
              <a:t>Název prezentace</a:t>
            </a:r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311699" y="445025"/>
            <a:ext cx="8520602" cy="572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91424" rIns="91424" bIns="91424">
            <a:normAutofit/>
          </a:bodyPr>
          <a:lstStyle/>
          <a:p>
            <a:r>
              <a:rPr lang="cs-CZ" noProof="0"/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311699" y="1152475"/>
            <a:ext cx="8520602" cy="3416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91424" rIns="91424" bIns="91424">
            <a:normAutofit/>
          </a:bodyPr>
          <a:lstStyle/>
          <a:p>
            <a:r>
              <a:rPr lang="cs-CZ" noProof="0"/>
              <a:t>Body Level One</a:t>
            </a:r>
          </a:p>
          <a:p>
            <a:pPr lvl="1"/>
            <a:r>
              <a:rPr lang="cs-CZ" noProof="0"/>
              <a:t>Body Level Two</a:t>
            </a:r>
          </a:p>
          <a:p>
            <a:pPr lvl="2"/>
            <a:r>
              <a:rPr lang="cs-CZ" noProof="0"/>
              <a:t>Body Level Three</a:t>
            </a:r>
          </a:p>
          <a:p>
            <a:pPr lvl="3"/>
            <a:r>
              <a:rPr lang="cs-CZ" noProof="0"/>
              <a:t>Body Level Four</a:t>
            </a:r>
          </a:p>
          <a:p>
            <a:pPr lvl="4"/>
            <a:r>
              <a:rPr lang="cs-CZ" noProof="0"/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684345" y="4700819"/>
            <a:ext cx="336813" cy="318396"/>
          </a:xfrm>
          <a:prstGeom prst="rect">
            <a:avLst/>
          </a:prstGeom>
          <a:ln w="12700">
            <a:miter lim="400000"/>
          </a:ln>
        </p:spPr>
        <p:txBody>
          <a:bodyPr wrap="none" lIns="91424" tIns="91424" rIns="91424" bIns="91424" anchor="ctr">
            <a:spAutoFit/>
          </a:bodyPr>
          <a:lstStyle>
            <a:lvl1pPr algn="r">
              <a:defRPr sz="1000">
                <a:solidFill>
                  <a:schemeClr val="accent2">
                    <a:lumOff val="21764"/>
                  </a:schemeClr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0" r:id="rId2"/>
    <p:sldLayoutId id="2147483655" r:id="rId3"/>
  </p:sldLayoutIdLst>
  <p:transition spd="med"/>
  <p:hf hdr="0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9pPr>
    </p:titleStyle>
    <p:bodyStyle>
      <a:lvl1pPr marL="457200" marR="0" indent="-342900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●"/>
        <a:tabLst/>
        <a:defRPr sz="1800" b="0" i="0" u="none" strike="noStrike" cap="none" spc="0" baseline="0"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1pPr>
      <a:lvl2pPr marL="10051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○"/>
        <a:tabLst/>
        <a:defRPr sz="1800" b="0" i="0" u="none" strike="noStrike" cap="none" spc="0" baseline="0"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2pPr>
      <a:lvl3pPr marL="14623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■"/>
        <a:tabLst/>
        <a:defRPr sz="1800" b="0" i="0" u="none" strike="noStrike" cap="none" spc="0" baseline="0"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3pPr>
      <a:lvl4pPr marL="19195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●"/>
        <a:tabLst/>
        <a:defRPr sz="1800" b="0" i="0" u="none" strike="noStrike" cap="none" spc="0" baseline="0"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4pPr>
      <a:lvl5pPr marL="23767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○"/>
        <a:tabLst/>
        <a:defRPr sz="1800" b="0" i="0" u="none" strike="noStrike" cap="none" spc="0" baseline="0"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5pPr>
      <a:lvl6pPr marL="28339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■"/>
        <a:tabLst/>
        <a:defRPr sz="1800" b="0" i="0" u="none" strike="noStrike" cap="none" spc="0" baseline="0"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6pPr>
      <a:lvl7pPr marL="32911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●"/>
        <a:tabLst/>
        <a:defRPr sz="1800" b="0" i="0" u="none" strike="noStrike" cap="none" spc="0" baseline="0"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7pPr>
      <a:lvl8pPr marL="37483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○"/>
        <a:tabLst/>
        <a:defRPr sz="1800" b="0" i="0" u="none" strike="noStrike" cap="none" spc="0" baseline="0"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8pPr>
      <a:lvl9pPr marL="42055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chemeClr val="accent2">
            <a:lumOff val="21764"/>
          </a:schemeClr>
        </a:buClr>
        <a:buSzPts val="1800"/>
        <a:buFont typeface="Arial"/>
        <a:buChar char="■"/>
        <a:tabLst/>
        <a:defRPr sz="1800" b="0" i="0" u="none" strike="noStrike" cap="none" spc="0" baseline="0">
          <a:solidFill>
            <a:schemeClr val="accent2">
              <a:lumOff val="21764"/>
            </a:schemeClr>
          </a:solidFill>
          <a:uFillTx/>
          <a:latin typeface="+mn-lt"/>
          <a:ea typeface="+mn-ea"/>
          <a:cs typeface="+mn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jp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2E07845-6198-AF48-9339-1C648FC1AFF9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r>
              <a:rPr lang="cs-CZ" dirty="0"/>
              <a:t>Ondřej Donát</a:t>
            </a:r>
          </a:p>
          <a:p>
            <a:r>
              <a:rPr lang="cs-CZ" dirty="0"/>
              <a:t>Student</a:t>
            </a:r>
          </a:p>
          <a:p>
            <a:endParaRPr lang="cs-CZ" dirty="0"/>
          </a:p>
          <a:p>
            <a:endParaRPr lang="cs-CZ" dirty="0"/>
          </a:p>
          <a:p>
            <a:r>
              <a:rPr lang="cs-CZ" dirty="0"/>
              <a:t>ondrej.donat@tul.cz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FE6B1C1-900E-C94C-B7F9-DE5CD093B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999" y="1470590"/>
            <a:ext cx="7560000" cy="1916077"/>
          </a:xfrm>
        </p:spPr>
        <p:txBody>
          <a:bodyPr>
            <a:normAutofit/>
          </a:bodyPr>
          <a:lstStyle/>
          <a:p>
            <a:pPr algn="just"/>
            <a:r>
              <a:rPr lang="cs-CZ" sz="3200" dirty="0"/>
              <a:t>Vývoj algoritmu zarovnávání optických elementů s využitím obrazových dat ze zaměřovací kamery interferometru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5B55F44-FDC6-5295-AB05-DBA0BD705E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altLang="cs-CZ" sz="1200" b="1" i="0" u="none" strike="noStrike" cap="none" normalizeH="0" baseline="0">
                <a:ln>
                  <a:noFill/>
                </a:ln>
                <a:solidFill>
                  <a:srgbClr val="EA7603"/>
                </a:solidFill>
                <a:effectLst/>
                <a:latin typeface="Inter"/>
                <a:ea typeface="Times New Roman" panose="02020603050405020304" pitchFamily="18" charset="0"/>
                <a:cs typeface="Times New Roman" panose="02020603050405020304" pitchFamily="18" charset="0"/>
              </a:rPr>
              <a:t>Vývoj algoritmu zarovnávání optických elementů s využitím obrazových dat ze zaměřovací kamery interferometru</a:t>
            </a:r>
            <a:endParaRPr kumimoji="0" lang="cs-CZ" altLang="cs-CZ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4746387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DB765-7BB9-4940-BE79-162D40FE6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999" y="892969"/>
            <a:ext cx="7560000" cy="560249"/>
          </a:xfrm>
        </p:spPr>
        <p:txBody>
          <a:bodyPr>
            <a:noAutofit/>
          </a:bodyPr>
          <a:lstStyle/>
          <a:p>
            <a:r>
              <a:rPr lang="cs-CZ" sz="2400" dirty="0"/>
              <a:t>Úvod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4B3469-47E2-0F4E-9011-5BFFC9FCF38B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8684345" y="4700819"/>
            <a:ext cx="336813" cy="318396"/>
          </a:xfrm>
        </p:spPr>
        <p:txBody>
          <a:bodyPr/>
          <a:lstStyle/>
          <a:p>
            <a:fld id="{86CB4B4D-7CA3-9044-876B-883B54F8677D}" type="slidenum">
              <a:rPr lang="en-CZ" smtClean="0"/>
              <a:pPr/>
              <a:t>2</a:t>
            </a:fld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87C0DD-268F-4D4D-9248-F0A2A739D1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2000" y="1585914"/>
            <a:ext cx="7560000" cy="2982962"/>
          </a:xfrm>
        </p:spPr>
        <p:txBody>
          <a:bodyPr>
            <a:noAutofit/>
          </a:bodyPr>
          <a:lstStyle/>
          <a:p>
            <a:pPr marL="114300" indent="0" algn="just">
              <a:buNone/>
            </a:pPr>
            <a:r>
              <a:rPr lang="cs-CZ" dirty="0"/>
              <a:t>Práce se zabývá zpracováním obrazu ze zaměřovací kamery interferometru pro přesné zarovnání měřeného vzorku. Cílem je vytvořit výpočetní modul v jazyce C#, který detekuje polohu vzorku a navrhne korekci polohovacího systému.</a:t>
            </a:r>
          </a:p>
        </p:txBody>
      </p:sp>
      <p:sp>
        <p:nvSpPr>
          <p:cNvPr id="12" name="Zástupný symbol pro zápatí 11">
            <a:extLst>
              <a:ext uri="{FF2B5EF4-FFF2-40B4-BE49-F238E27FC236}">
                <a16:creationId xmlns:a16="http://schemas.microsoft.com/office/drawing/2014/main" id="{28172E1B-E6E3-4A3C-BBE0-89BE02F23F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99" y="209500"/>
            <a:ext cx="7560000" cy="365125"/>
          </a:xfrm>
        </p:spPr>
        <p:txBody>
          <a:bodyPr/>
          <a:lstStyle/>
          <a:p>
            <a:r>
              <a:rPr lang="cs-CZ" dirty="0"/>
              <a:t>Vývoj algoritmu zarovnávání optických elementů s využitím obrazových dat ze zaměřovací kamery interferometru</a:t>
            </a:r>
          </a:p>
        </p:txBody>
      </p:sp>
      <p:sp>
        <p:nvSpPr>
          <p:cNvPr id="18" name="Zástupný symbol pro datum 17">
            <a:extLst>
              <a:ext uri="{FF2B5EF4-FFF2-40B4-BE49-F238E27FC236}">
                <a16:creationId xmlns:a16="http://schemas.microsoft.com/office/drawing/2014/main" id="{C4E6C7BD-7F79-498A-B83C-0759179E5C30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9E039954-0893-4AC6-8021-245AB753B716}" type="datetime1">
              <a:rPr lang="cs-CZ" smtClean="0"/>
              <a:t>01.04.2026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796727996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124EA-707E-0C66-3492-EC09DD414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56BDE-60E5-4FC6-E18C-B5FC4AE1E9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999" y="892969"/>
            <a:ext cx="7560000" cy="560249"/>
          </a:xfrm>
        </p:spPr>
        <p:txBody>
          <a:bodyPr>
            <a:noAutofit/>
          </a:bodyPr>
          <a:lstStyle/>
          <a:p>
            <a:r>
              <a:rPr lang="cs-CZ" sz="2400" dirty="0"/>
              <a:t>Návrh architektury softwaru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DDE78F-0596-A3E0-9924-1AA05CC217B9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8684345" y="4700819"/>
            <a:ext cx="336813" cy="318396"/>
          </a:xfrm>
        </p:spPr>
        <p:txBody>
          <a:bodyPr/>
          <a:lstStyle/>
          <a:p>
            <a:fld id="{86CB4B4D-7CA3-9044-876B-883B54F8677D}" type="slidenum">
              <a:rPr lang="en-CZ" smtClean="0"/>
              <a:pPr/>
              <a:t>3</a:t>
            </a:fld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1E4E43-3FB7-8F47-4FFA-427603F15F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2000" y="1585914"/>
            <a:ext cx="7560000" cy="2982962"/>
          </a:xfrm>
        </p:spPr>
        <p:txBody>
          <a:bodyPr>
            <a:noAutofit/>
          </a:bodyPr>
          <a:lstStyle/>
          <a:p>
            <a:pPr algn="just"/>
            <a:r>
              <a:rPr lang="cs-CZ" sz="1200" dirty="0"/>
              <a:t>Modulární návrh v C# (snadná integrace do nadřazené aplikace)</a:t>
            </a:r>
          </a:p>
          <a:p>
            <a:pPr algn="just"/>
            <a:r>
              <a:rPr lang="cs-CZ" sz="1200" dirty="0"/>
              <a:t>Bloky si předávají instrukce jak postupovat dál</a:t>
            </a:r>
          </a:p>
          <a:p>
            <a:pPr algn="just"/>
            <a:endParaRPr lang="cs-CZ" sz="1200" dirty="0"/>
          </a:p>
        </p:txBody>
      </p:sp>
      <p:sp>
        <p:nvSpPr>
          <p:cNvPr id="12" name="Zástupný symbol pro zápatí 11">
            <a:extLst>
              <a:ext uri="{FF2B5EF4-FFF2-40B4-BE49-F238E27FC236}">
                <a16:creationId xmlns:a16="http://schemas.microsoft.com/office/drawing/2014/main" id="{3C6D6B8A-726A-FFE2-EE90-7B32CA21A3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99" y="209500"/>
            <a:ext cx="7560000" cy="365125"/>
          </a:xfrm>
        </p:spPr>
        <p:txBody>
          <a:bodyPr/>
          <a:lstStyle/>
          <a:p>
            <a:r>
              <a:rPr lang="cs-CZ" dirty="0"/>
              <a:t>Vývoj algoritmu zarovnávání optických elementů s využitím obrazových dat ze zaměřovací kamery interferometru</a:t>
            </a:r>
          </a:p>
        </p:txBody>
      </p:sp>
      <p:sp>
        <p:nvSpPr>
          <p:cNvPr id="18" name="Zástupný symbol pro datum 17">
            <a:extLst>
              <a:ext uri="{FF2B5EF4-FFF2-40B4-BE49-F238E27FC236}">
                <a16:creationId xmlns:a16="http://schemas.microsoft.com/office/drawing/2014/main" id="{A6878FB0-F185-086D-887B-633C4C3C472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9E039954-0893-4AC6-8021-245AB753B716}" type="datetime1">
              <a:rPr lang="cs-CZ" smtClean="0"/>
              <a:t>01.04.2026</a:t>
            </a:fld>
            <a:endParaRPr lang="cs-CZ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D621FE3-9F2A-2811-30AF-CBC5B51E26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0316" y="864679"/>
            <a:ext cx="2997503" cy="383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947620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AD987-EC38-5ABB-FE5F-F654BA9B7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7BB6D68-3DFD-2EDC-6051-96DC7DD289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0316" y="864679"/>
            <a:ext cx="2997503" cy="38361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7304879-3DE6-C92D-830B-947E6573A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999" y="892969"/>
            <a:ext cx="7560000" cy="560249"/>
          </a:xfrm>
        </p:spPr>
        <p:txBody>
          <a:bodyPr>
            <a:noAutofit/>
          </a:bodyPr>
          <a:lstStyle/>
          <a:p>
            <a:r>
              <a:rPr lang="cs-CZ" sz="2400" dirty="0"/>
              <a:t>Start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7F2A8EC-066F-0CB1-4364-681FB89C1D8D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8684345" y="4700819"/>
            <a:ext cx="336813" cy="318396"/>
          </a:xfrm>
        </p:spPr>
        <p:txBody>
          <a:bodyPr/>
          <a:lstStyle/>
          <a:p>
            <a:fld id="{86CB4B4D-7CA3-9044-876B-883B54F8677D}" type="slidenum">
              <a:rPr lang="en-CZ" smtClean="0"/>
              <a:pPr/>
              <a:t>4</a:t>
            </a:fld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DAA897-42F2-759E-2AF7-F4984F2C2B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2000" y="1585914"/>
            <a:ext cx="7560000" cy="2982962"/>
          </a:xfrm>
        </p:spPr>
        <p:txBody>
          <a:bodyPr>
            <a:noAutofit/>
          </a:bodyPr>
          <a:lstStyle/>
          <a:p>
            <a:pPr algn="just"/>
            <a:r>
              <a:rPr lang="cs-CZ" sz="1200" dirty="0"/>
              <a:t>Lokální ukládání/přepisování dat</a:t>
            </a:r>
          </a:p>
          <a:p>
            <a:pPr marL="114300" indent="0" algn="just">
              <a:buNone/>
            </a:pPr>
            <a:endParaRPr lang="cs-CZ" sz="1200" dirty="0"/>
          </a:p>
        </p:txBody>
      </p:sp>
      <p:sp>
        <p:nvSpPr>
          <p:cNvPr id="12" name="Zástupný symbol pro zápatí 11">
            <a:extLst>
              <a:ext uri="{FF2B5EF4-FFF2-40B4-BE49-F238E27FC236}">
                <a16:creationId xmlns:a16="http://schemas.microsoft.com/office/drawing/2014/main" id="{A14FCE9D-709F-64D0-A8ED-1AFD0326CC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99" y="209500"/>
            <a:ext cx="7560000" cy="365125"/>
          </a:xfrm>
        </p:spPr>
        <p:txBody>
          <a:bodyPr/>
          <a:lstStyle/>
          <a:p>
            <a:r>
              <a:rPr lang="cs-CZ" dirty="0"/>
              <a:t>Vývoj algoritmu zarovnávání optických elementů s využitím obrazových dat ze zaměřovací kamery interferometru</a:t>
            </a:r>
          </a:p>
        </p:txBody>
      </p:sp>
      <p:sp>
        <p:nvSpPr>
          <p:cNvPr id="18" name="Zástupný symbol pro datum 17">
            <a:extLst>
              <a:ext uri="{FF2B5EF4-FFF2-40B4-BE49-F238E27FC236}">
                <a16:creationId xmlns:a16="http://schemas.microsoft.com/office/drawing/2014/main" id="{ED091F28-1C78-5AA6-61EF-2071407BE67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9E039954-0893-4AC6-8021-245AB753B716}" type="datetime1">
              <a:rPr lang="cs-CZ" smtClean="0"/>
              <a:t>01.04.2026</a:t>
            </a:fld>
            <a:endParaRPr lang="cs-CZ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4676153-CF96-8A15-2911-3A768D5601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856" y="3036113"/>
            <a:ext cx="1713806" cy="11890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5AD61EA-6900-1F93-A3EC-FFDBDADDDB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1662" y="3036113"/>
            <a:ext cx="1281066" cy="118903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D717D8E-7BA3-0D4F-A5EC-5BC59759AA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2728" y="3267771"/>
            <a:ext cx="2018546" cy="95880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1A6B152-7684-66D9-5062-7CBC265434F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0316" y="864679"/>
            <a:ext cx="2997503" cy="383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8010509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47F3B-1AAF-2008-6B22-1F37E5E44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A89FB-81F8-A536-24AC-A2EBD28D1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999" y="892969"/>
            <a:ext cx="7560000" cy="560249"/>
          </a:xfrm>
        </p:spPr>
        <p:txBody>
          <a:bodyPr>
            <a:noAutofit/>
          </a:bodyPr>
          <a:lstStyle/>
          <a:p>
            <a:r>
              <a:rPr lang="cs-CZ" sz="2400" dirty="0"/>
              <a:t>Referenční snímek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A8F931A-8936-C876-30F7-1B1DE6D0BC3E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8684345" y="4700819"/>
            <a:ext cx="336813" cy="318396"/>
          </a:xfrm>
        </p:spPr>
        <p:txBody>
          <a:bodyPr/>
          <a:lstStyle/>
          <a:p>
            <a:fld id="{86CB4B4D-7CA3-9044-876B-883B54F8677D}" type="slidenum">
              <a:rPr lang="en-CZ" smtClean="0"/>
              <a:pPr/>
              <a:t>5</a:t>
            </a:fld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DDBDB4-CFB7-51EE-9A54-78B262D1C8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2000" y="1481508"/>
            <a:ext cx="7560000" cy="3104832"/>
          </a:xfrm>
        </p:spPr>
        <p:txBody>
          <a:bodyPr>
            <a:noAutofit/>
          </a:bodyPr>
          <a:lstStyle/>
          <a:p>
            <a:pPr algn="just"/>
            <a:r>
              <a:rPr lang="cs-CZ" sz="1200" dirty="0"/>
              <a:t>Referenční bod = bod blíže ke středu snímku</a:t>
            </a:r>
          </a:p>
          <a:p>
            <a:pPr algn="just"/>
            <a:endParaRPr lang="cs-CZ" sz="1200" dirty="0"/>
          </a:p>
        </p:txBody>
      </p:sp>
      <p:sp>
        <p:nvSpPr>
          <p:cNvPr id="12" name="Zástupný symbol pro zápatí 11">
            <a:extLst>
              <a:ext uri="{FF2B5EF4-FFF2-40B4-BE49-F238E27FC236}">
                <a16:creationId xmlns:a16="http://schemas.microsoft.com/office/drawing/2014/main" id="{C7649100-7A61-72C2-7E58-84235A745C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99" y="209500"/>
            <a:ext cx="7560000" cy="365125"/>
          </a:xfrm>
        </p:spPr>
        <p:txBody>
          <a:bodyPr/>
          <a:lstStyle/>
          <a:p>
            <a:r>
              <a:rPr lang="cs-CZ" dirty="0"/>
              <a:t>Vývoj algoritmu zarovnávání optických elementů s využitím obrazových dat ze zaměřovací kamery interferometru</a:t>
            </a:r>
          </a:p>
        </p:txBody>
      </p:sp>
      <p:sp>
        <p:nvSpPr>
          <p:cNvPr id="18" name="Zástupný symbol pro datum 17">
            <a:extLst>
              <a:ext uri="{FF2B5EF4-FFF2-40B4-BE49-F238E27FC236}">
                <a16:creationId xmlns:a16="http://schemas.microsoft.com/office/drawing/2014/main" id="{F9C076F9-7A61-3993-4F64-082B25E01006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9E039954-0893-4AC6-8021-245AB753B716}" type="datetime1">
              <a:rPr lang="cs-CZ" smtClean="0"/>
              <a:t>01.04.2026</a:t>
            </a:fld>
            <a:endParaRPr lang="cs-CZ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BA552A4-446B-9E0C-2C9B-FD37D7B3C9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0316" y="864679"/>
            <a:ext cx="2997503" cy="38361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79F0BB5-17A1-4C88-8A9C-BAD27A7467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0315" y="864677"/>
            <a:ext cx="2997504" cy="383614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7C039FE-6110-C69B-D6EF-A75C53E00D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912" y="2425513"/>
            <a:ext cx="2257740" cy="1848108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6B284BEE-09B2-4F7D-58ED-A1534CBD2418}"/>
              </a:ext>
            </a:extLst>
          </p:cNvPr>
          <p:cNvSpPr txBox="1"/>
          <p:nvPr/>
        </p:nvSpPr>
        <p:spPr>
          <a:xfrm flipH="1">
            <a:off x="445912" y="2089446"/>
            <a:ext cx="3177468" cy="30777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r>
              <a:rPr lang="cs-CZ" sz="1000" dirty="0"/>
              <a:t>Návratový paprsky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cs-CZ" sz="1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rial"/>
              </a:rPr>
              <a:t>S referenčním a parazitním bodem</a:t>
            </a:r>
          </a:p>
        </p:txBody>
      </p:sp>
    </p:spTree>
    <p:extLst>
      <p:ext uri="{BB962C8B-B14F-4D97-AF65-F5344CB8AC3E}">
        <p14:creationId xmlns:p14="http://schemas.microsoft.com/office/powerpoint/2010/main" val="224075384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133FF1-13DD-FDE2-FABD-27A825C82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2D284-948F-8DD0-06CF-BCA086077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999" y="892969"/>
            <a:ext cx="7560000" cy="560249"/>
          </a:xfrm>
        </p:spPr>
        <p:txBody>
          <a:bodyPr>
            <a:noAutofit/>
          </a:bodyPr>
          <a:lstStyle/>
          <a:p>
            <a:r>
              <a:rPr lang="cs-CZ" sz="2400" dirty="0"/>
              <a:t>Snímek se vzorkem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26DADA-1A39-132E-8362-AFA4832CB324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8684345" y="4700819"/>
            <a:ext cx="336813" cy="318396"/>
          </a:xfrm>
        </p:spPr>
        <p:txBody>
          <a:bodyPr/>
          <a:lstStyle/>
          <a:p>
            <a:fld id="{86CB4B4D-7CA3-9044-876B-883B54F8677D}" type="slidenum">
              <a:rPr lang="en-CZ" smtClean="0"/>
              <a:pPr/>
              <a:t>6</a:t>
            </a:fld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D2BFFD-FC02-E61A-689D-4445744448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2000" y="1585914"/>
            <a:ext cx="7560000" cy="2982962"/>
          </a:xfrm>
        </p:spPr>
        <p:txBody>
          <a:bodyPr>
            <a:noAutofit/>
          </a:bodyPr>
          <a:lstStyle/>
          <a:p>
            <a:pPr algn="just"/>
            <a:r>
              <a:rPr lang="cs-CZ" sz="1200" dirty="0"/>
              <a:t>Posuzuje se na základě vyhodnocení nového snímku, do jakého stavu</a:t>
            </a:r>
          </a:p>
          <a:p>
            <a:pPr marL="114300" indent="0" algn="just">
              <a:buNone/>
            </a:pPr>
            <a:r>
              <a:rPr lang="cs-CZ" sz="1200" dirty="0"/>
              <a:t>se má algoritmus posunout</a:t>
            </a:r>
          </a:p>
          <a:p>
            <a:pPr algn="just"/>
            <a:endParaRPr lang="cs-CZ" sz="1200" dirty="0"/>
          </a:p>
        </p:txBody>
      </p:sp>
      <p:sp>
        <p:nvSpPr>
          <p:cNvPr id="12" name="Zástupný symbol pro zápatí 11">
            <a:extLst>
              <a:ext uri="{FF2B5EF4-FFF2-40B4-BE49-F238E27FC236}">
                <a16:creationId xmlns:a16="http://schemas.microsoft.com/office/drawing/2014/main" id="{0DE2640D-4880-B6F0-6AA3-B6FD54C99F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99" y="209500"/>
            <a:ext cx="7560000" cy="365125"/>
          </a:xfrm>
        </p:spPr>
        <p:txBody>
          <a:bodyPr/>
          <a:lstStyle/>
          <a:p>
            <a:r>
              <a:rPr lang="cs-CZ" dirty="0"/>
              <a:t>Vývoj algoritmu zarovnávání optických elementů s využitím obrazových dat ze zaměřovací kamery interferometru</a:t>
            </a:r>
          </a:p>
        </p:txBody>
      </p:sp>
      <p:sp>
        <p:nvSpPr>
          <p:cNvPr id="18" name="Zástupný symbol pro datum 17">
            <a:extLst>
              <a:ext uri="{FF2B5EF4-FFF2-40B4-BE49-F238E27FC236}">
                <a16:creationId xmlns:a16="http://schemas.microsoft.com/office/drawing/2014/main" id="{D49DE153-6846-4467-0486-DB077080E3A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9E039954-0893-4AC6-8021-245AB753B716}" type="datetime1">
              <a:rPr lang="cs-CZ" smtClean="0"/>
              <a:t>01.04.2026</a:t>
            </a:fld>
            <a:endParaRPr lang="cs-CZ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72D897-E0DF-807F-F8B2-0A5A1C63CB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0316" y="864679"/>
            <a:ext cx="2997503" cy="38361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2E871D3-0C58-4847-787F-0C0D2C906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0315" y="864677"/>
            <a:ext cx="2997504" cy="383614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BA47E71-FE18-AF26-449A-F59C0F059F8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0316" y="864680"/>
            <a:ext cx="2997503" cy="383613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6471230-C435-A657-6202-38CD9D9084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5690" y="2393194"/>
            <a:ext cx="2134551" cy="185733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3166C56-764A-9B0D-BAA9-6623215A8D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341" y="2379381"/>
            <a:ext cx="2183008" cy="187115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0B1C08C-2586-6061-188B-52CDD967A468}"/>
              </a:ext>
            </a:extLst>
          </p:cNvPr>
          <p:cNvSpPr txBox="1"/>
          <p:nvPr/>
        </p:nvSpPr>
        <p:spPr>
          <a:xfrm>
            <a:off x="3098800" y="2146528"/>
            <a:ext cx="1473200" cy="21544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cs-CZ" sz="1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rial"/>
              </a:rPr>
              <a:t>CF Z -30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AB8141-DE41-42FC-84A8-5B675D961048}"/>
              </a:ext>
            </a:extLst>
          </p:cNvPr>
          <p:cNvSpPr txBox="1"/>
          <p:nvPr/>
        </p:nvSpPr>
        <p:spPr>
          <a:xfrm>
            <a:off x="343341" y="2146528"/>
            <a:ext cx="673100" cy="21544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cs-CZ" sz="1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rial"/>
              </a:rPr>
              <a:t>CF Z -1</a:t>
            </a:r>
          </a:p>
        </p:txBody>
      </p:sp>
    </p:spTree>
    <p:extLst>
      <p:ext uri="{BB962C8B-B14F-4D97-AF65-F5344CB8AC3E}">
        <p14:creationId xmlns:p14="http://schemas.microsoft.com/office/powerpoint/2010/main" val="675972973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EC94B-57E0-10F7-8F8E-DED22AFFF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6CD61-1257-8B96-ABEC-148949B57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999" y="892969"/>
            <a:ext cx="7560000" cy="560249"/>
          </a:xfrm>
        </p:spPr>
        <p:txBody>
          <a:bodyPr>
            <a:noAutofit/>
          </a:bodyPr>
          <a:lstStyle/>
          <a:p>
            <a:r>
              <a:rPr lang="cs-CZ" sz="2400" dirty="0"/>
              <a:t>Posun po osách x,y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16CB8B-CFAA-A78E-3314-F785FF261A88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8684345" y="4700819"/>
            <a:ext cx="336813" cy="318396"/>
          </a:xfrm>
        </p:spPr>
        <p:txBody>
          <a:bodyPr/>
          <a:lstStyle/>
          <a:p>
            <a:fld id="{86CB4B4D-7CA3-9044-876B-883B54F8677D}" type="slidenum">
              <a:rPr lang="en-CZ" smtClean="0"/>
              <a:pPr/>
              <a:t>7</a:t>
            </a:fld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6B9F51-58D1-D3E6-023E-09019F803A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2000" y="1585914"/>
            <a:ext cx="7560000" cy="2982962"/>
          </a:xfrm>
        </p:spPr>
        <p:txBody>
          <a:bodyPr>
            <a:noAutofit/>
          </a:bodyPr>
          <a:lstStyle/>
          <a:p>
            <a:pPr marL="114300" indent="0" algn="just">
              <a:buSzPct val="100000"/>
              <a:buNone/>
            </a:pPr>
            <a:r>
              <a:rPr lang="cs-CZ" sz="1200" b="1" dirty="0"/>
              <a:t>Problémy:</a:t>
            </a:r>
          </a:p>
          <a:p>
            <a:pPr marL="114300" indent="0" algn="just">
              <a:buSzPct val="100000"/>
              <a:buNone/>
            </a:pPr>
            <a:r>
              <a:rPr lang="cs-CZ" sz="1200" dirty="0"/>
              <a:t>1. Vzorek je mimo snímek</a:t>
            </a:r>
          </a:p>
          <a:p>
            <a:pPr marL="114300" indent="0" algn="just">
              <a:buSzPct val="100000"/>
              <a:buNone/>
            </a:pPr>
            <a:r>
              <a:rPr lang="cs-CZ" sz="1200" dirty="0"/>
              <a:t>2. Na okraji snímku</a:t>
            </a:r>
          </a:p>
          <a:p>
            <a:pPr marL="114300" indent="0" algn="just">
              <a:buSzPct val="100000"/>
              <a:buNone/>
            </a:pPr>
            <a:r>
              <a:rPr lang="cs-CZ" sz="1200" dirty="0"/>
              <a:t>3. Překrývá/dotýtá se </a:t>
            </a:r>
          </a:p>
          <a:p>
            <a:pPr marL="114300" indent="0" algn="just">
              <a:buSzPct val="100000"/>
              <a:buNone/>
            </a:pPr>
            <a:r>
              <a:rPr lang="cs-CZ" sz="1200" dirty="0"/>
              <a:t>    referenčního/parazitního bodu</a:t>
            </a:r>
          </a:p>
          <a:p>
            <a:pPr marL="114300" indent="0" algn="just">
              <a:buSzPct val="100000"/>
              <a:buNone/>
            </a:pPr>
            <a:r>
              <a:rPr lang="cs-CZ" sz="1200" dirty="0"/>
              <a:t>4. Na snímku je více bodů </a:t>
            </a:r>
          </a:p>
          <a:p>
            <a:pPr marL="114300" indent="0" algn="just">
              <a:buSzPct val="100000"/>
              <a:buNone/>
            </a:pPr>
            <a:r>
              <a:rPr lang="cs-CZ" sz="1200" dirty="0"/>
              <a:t>    (špatná filtrace obrazu)</a:t>
            </a:r>
          </a:p>
          <a:p>
            <a:pPr marL="114300" indent="0" algn="just">
              <a:buSzPct val="100000"/>
              <a:buNone/>
            </a:pPr>
            <a:endParaRPr lang="cs-CZ" sz="1200" dirty="0"/>
          </a:p>
          <a:p>
            <a:pPr marL="342900" indent="-228600" algn="just">
              <a:buSzPct val="100000"/>
              <a:buFont typeface="+mj-lt"/>
              <a:buAutoNum type="arabicPeriod"/>
            </a:pPr>
            <a:endParaRPr lang="cs-CZ" sz="1200" dirty="0"/>
          </a:p>
          <a:p>
            <a:pPr algn="just"/>
            <a:endParaRPr lang="cs-CZ" sz="1200" dirty="0"/>
          </a:p>
        </p:txBody>
      </p:sp>
      <p:sp>
        <p:nvSpPr>
          <p:cNvPr id="12" name="Zástupný symbol pro zápatí 11">
            <a:extLst>
              <a:ext uri="{FF2B5EF4-FFF2-40B4-BE49-F238E27FC236}">
                <a16:creationId xmlns:a16="http://schemas.microsoft.com/office/drawing/2014/main" id="{2DD160FA-A7A8-1249-386C-02DB9B2CCB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99" y="209500"/>
            <a:ext cx="7560000" cy="365125"/>
          </a:xfrm>
        </p:spPr>
        <p:txBody>
          <a:bodyPr/>
          <a:lstStyle/>
          <a:p>
            <a:r>
              <a:rPr lang="cs-CZ" dirty="0"/>
              <a:t>Vývoj algoritmu zarovnávání optických elementů s využitím obrazových dat ze zaměřovací kamery interferometru</a:t>
            </a:r>
          </a:p>
        </p:txBody>
      </p:sp>
      <p:sp>
        <p:nvSpPr>
          <p:cNvPr id="18" name="Zástupný symbol pro datum 17">
            <a:extLst>
              <a:ext uri="{FF2B5EF4-FFF2-40B4-BE49-F238E27FC236}">
                <a16:creationId xmlns:a16="http://schemas.microsoft.com/office/drawing/2014/main" id="{C8EE3E21-974A-4933-BF8B-5A33986BC19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9E039954-0893-4AC6-8021-245AB753B716}" type="datetime1">
              <a:rPr lang="cs-CZ" smtClean="0"/>
              <a:t>01.04.2026</a:t>
            </a:fld>
            <a:endParaRPr lang="cs-CZ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36418F5-0336-FDB2-4339-2833FBA883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0316" y="864679"/>
            <a:ext cx="2997503" cy="38361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044BAA0-8513-699D-18FA-F310CFD5B5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0315" y="864677"/>
            <a:ext cx="2997504" cy="383614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B2C071C-67F7-B38F-44C5-1B97FABF84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0314" y="864676"/>
            <a:ext cx="2997504" cy="383614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4E386AC-07E2-E759-BB59-C12160BF805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2199" y="1771562"/>
            <a:ext cx="2392052" cy="2392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143881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D0FE5-8278-FDF3-556D-8BD043546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3F5311B-21E4-39D2-51DA-91FA0D35AE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1746" y="1007499"/>
            <a:ext cx="2697925" cy="37533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E1B4B0A-49D3-5407-529D-E42B47BEE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999" y="892969"/>
            <a:ext cx="7560000" cy="560249"/>
          </a:xfrm>
        </p:spPr>
        <p:txBody>
          <a:bodyPr>
            <a:noAutofit/>
          </a:bodyPr>
          <a:lstStyle/>
          <a:p>
            <a:r>
              <a:rPr lang="cs-CZ" sz="2400" dirty="0"/>
              <a:t>Posun vzorku po ose Z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304E776-9484-47D7-E702-D8FF32C66594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8684345" y="4700819"/>
            <a:ext cx="336813" cy="318396"/>
          </a:xfrm>
        </p:spPr>
        <p:txBody>
          <a:bodyPr/>
          <a:lstStyle/>
          <a:p>
            <a:fld id="{86CB4B4D-7CA3-9044-876B-883B54F8677D}" type="slidenum">
              <a:rPr lang="en-CZ" smtClean="0"/>
              <a:pPr/>
              <a:t>8</a:t>
            </a:fld>
            <a:endParaRPr lang="en-CZ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E238CF0C-BBA1-2D7B-B489-CDE9CA071B08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252000" y="1585914"/>
                <a:ext cx="7560000" cy="2982962"/>
              </a:xfrm>
            </p:spPr>
            <p:txBody>
              <a:bodyPr>
                <a:noAutofit/>
              </a:bodyPr>
              <a:lstStyle/>
              <a:p>
                <a:pPr marL="114300" indent="0" algn="just">
                  <a:buNone/>
                </a:pPr>
                <a:r>
                  <a:rPr lang="cs-CZ" sz="1200" b="1" dirty="0"/>
                  <a:t>Problém</a:t>
                </a:r>
                <a:r>
                  <a:rPr lang="cs-CZ" sz="1200" dirty="0"/>
                  <a:t>: Vzorek zmizí </a:t>
                </a:r>
              </a:p>
              <a:p>
                <a:pPr marL="114300" indent="0" algn="just">
                  <a:buNone/>
                </a:pPr>
                <a:r>
                  <a:rPr lang="cs-CZ" sz="1200" dirty="0"/>
                  <a:t>(posun na špatnou stranu)</a:t>
                </a:r>
              </a:p>
              <a:p>
                <a:pPr marL="114300" indent="0" algn="just">
                  <a:buNone/>
                </a:pPr>
                <a:endParaRPr lang="cs-CZ" sz="1200" dirty="0"/>
              </a:p>
              <a:p>
                <a:pPr marL="114300" indent="0" algn="just">
                  <a:buNone/>
                </a:pPr>
                <a:r>
                  <a:rPr lang="cs-CZ" sz="1200" i="1" dirty="0">
                    <a:latin typeface="Cambria Math" panose="02040503050406030204" pitchFamily="18" charset="0"/>
                  </a:rPr>
                  <a:t>RR  -     radius referenčního bodu</a:t>
                </a:r>
              </a:p>
              <a:p>
                <a:pPr marL="114300" indent="0" algn="just">
                  <a:buNone/>
                </a:pPr>
                <a:r>
                  <a:rPr lang="cs-CZ" sz="1200" i="1" dirty="0">
                    <a:latin typeface="Cambria Math" panose="02040503050406030204" pitchFamily="18" charset="0"/>
                  </a:rPr>
                  <a:t>PZ   -    posun interferometru (Z)</a:t>
                </a:r>
              </a:p>
              <a:p>
                <a:pPr marL="114300" indent="0" algn="just">
                  <a:buNone/>
                </a:pPr>
                <a:r>
                  <a:rPr lang="cs-CZ" sz="1200" i="1" dirty="0">
                    <a:latin typeface="Cambria Math" panose="02040503050406030204" pitchFamily="18" charset="0"/>
                  </a:rPr>
                  <a:t>RV   -   radius vzorkového bodu</a:t>
                </a:r>
              </a:p>
              <a:p>
                <a:pPr marL="114300" indent="0" algn="just">
                  <a:buNone/>
                </a:pPr>
                <a:r>
                  <a:rPr lang="cs-CZ" sz="1200" i="1" dirty="0">
                    <a:latin typeface="Cambria Math" panose="02040503050406030204" pitchFamily="18" charset="0"/>
                  </a:rPr>
                  <a:t>RVS -   radius posunutého vzorkového bodu</a:t>
                </a:r>
              </a:p>
              <a:p>
                <a:pPr marL="114300" indent="0" algn="just">
                  <a:buNone/>
                </a:pPr>
                <a:r>
                  <a:rPr lang="cs-CZ" sz="1200" i="1" dirty="0">
                    <a:latin typeface="Cambria Math" panose="02040503050406030204" pitchFamily="18" charset="0"/>
                  </a:rPr>
                  <a:t>Z      -   vzdálenost mezi vzorkem </a:t>
                </a:r>
              </a:p>
              <a:p>
                <a:pPr marL="114300" indent="0" algn="just">
                  <a:buNone/>
                </a:pPr>
                <a:r>
                  <a:rPr lang="cs-CZ" sz="1200" i="1" dirty="0">
                    <a:latin typeface="Cambria Math" panose="02040503050406030204" pitchFamily="18" charset="0"/>
                  </a:rPr>
                  <a:t>             a referenšním bodem</a:t>
                </a:r>
              </a:p>
              <a:p>
                <a:pPr marL="114300" indent="0" algn="just">
                  <a:buNone/>
                </a:pPr>
                <a:endParaRPr lang="cs-CZ" sz="1200" i="1" dirty="0">
                  <a:latin typeface="Cambria Math" panose="02040503050406030204" pitchFamily="18" charset="0"/>
                </a:endParaRPr>
              </a:p>
              <a:p>
                <a:pPr marL="114300" indent="0" algn="just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cs-CZ" sz="120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pt-BR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cs-CZ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cs-CZ" sz="1200" i="1">
                              <a:latin typeface="Cambria Math" panose="02040503050406030204" pitchFamily="18" charset="0"/>
                            </a:rPr>
                            <m:t>𝑃𝑍</m:t>
                          </m:r>
                          <m:r>
                            <a:rPr lang="cs-CZ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cs-CZ" sz="1200" i="1">
                              <a:latin typeface="Cambria Math" panose="02040503050406030204" pitchFamily="18" charset="0"/>
                            </a:rPr>
                            <m:t>𝑅𝑅</m:t>
                          </m:r>
                          <m:r>
                            <a:rPr lang="cs-CZ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cs-CZ" sz="1200" i="1">
                              <a:latin typeface="Cambria Math" panose="02040503050406030204" pitchFamily="18" charset="0"/>
                            </a:rPr>
                            <m:t>𝑅𝑉𝑆</m:t>
                          </m:r>
                          <m:r>
                            <a:rPr lang="cs-CZ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cs-CZ" sz="1200" i="1">
                              <a:latin typeface="Cambria Math" panose="02040503050406030204" pitchFamily="18" charset="0"/>
                            </a:rPr>
                            <m:t>𝑅𝑉</m:t>
                          </m:r>
                          <m:r>
                            <a:rPr lang="cs-CZ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cs-CZ" sz="1200" i="1">
                              <a:latin typeface="Cambria Math" panose="02040503050406030204" pitchFamily="18" charset="0"/>
                            </a:rPr>
                            <m:t>𝑅𝑉𝑆</m:t>
                          </m:r>
                        </m:den>
                      </m:f>
                    </m:oMath>
                  </m:oMathPara>
                </a14:m>
                <a:endParaRPr lang="cs-CZ" sz="1200" dirty="0"/>
              </a:p>
            </p:txBody>
          </p:sp>
        </mc:Choice>
        <mc:Fallback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E238CF0C-BBA1-2D7B-B489-CDE9CA071B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52000" y="1585914"/>
                <a:ext cx="7560000" cy="2982962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cs-CZ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Zástupný symbol pro zápatí 11">
            <a:extLst>
              <a:ext uri="{FF2B5EF4-FFF2-40B4-BE49-F238E27FC236}">
                <a16:creationId xmlns:a16="http://schemas.microsoft.com/office/drawing/2014/main" id="{81EC87B9-01BE-30D6-3919-FCA293B53A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99" y="209500"/>
            <a:ext cx="7560000" cy="365125"/>
          </a:xfrm>
        </p:spPr>
        <p:txBody>
          <a:bodyPr/>
          <a:lstStyle/>
          <a:p>
            <a:r>
              <a:rPr lang="cs-CZ" dirty="0"/>
              <a:t>Vývoj algoritmu zarovnávání optických elementů s využitím obrazových dat ze zaměřovací kamery interferometru</a:t>
            </a:r>
          </a:p>
        </p:txBody>
      </p:sp>
      <p:sp>
        <p:nvSpPr>
          <p:cNvPr id="18" name="Zástupný symbol pro datum 17">
            <a:extLst>
              <a:ext uri="{FF2B5EF4-FFF2-40B4-BE49-F238E27FC236}">
                <a16:creationId xmlns:a16="http://schemas.microsoft.com/office/drawing/2014/main" id="{D7E4A834-5813-71E9-92D5-AC8919501551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9E039954-0893-4AC6-8021-245AB753B716}" type="datetime1">
              <a:rPr lang="cs-CZ" smtClean="0"/>
              <a:t>01.04.2026</a:t>
            </a:fld>
            <a:endParaRPr lang="cs-CZ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CB3179F-CA16-872C-E39A-4F178FEB32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0316" y="864679"/>
            <a:ext cx="2997503" cy="38361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F615D3C-E70C-37CC-7872-73944A4930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0315" y="864677"/>
            <a:ext cx="2997504" cy="383614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086DC3-89E2-E036-2B28-BA65262BE76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0314" y="864679"/>
            <a:ext cx="2997503" cy="383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449226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C0BEA-0E44-27D3-F053-2AA77E15A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10F4A-4485-73C3-8BFB-563B77959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999" y="892969"/>
            <a:ext cx="7560000" cy="560249"/>
          </a:xfrm>
        </p:spPr>
        <p:txBody>
          <a:bodyPr>
            <a:noAutofit/>
          </a:bodyPr>
          <a:lstStyle/>
          <a:p>
            <a:r>
              <a:rPr lang="cs-CZ" sz="2400" dirty="0"/>
              <a:t>Testy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69A58B5-B468-704B-E7CC-6CDAEECA19DA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8684345" y="4700819"/>
            <a:ext cx="336813" cy="318396"/>
          </a:xfrm>
        </p:spPr>
        <p:txBody>
          <a:bodyPr/>
          <a:lstStyle/>
          <a:p>
            <a:fld id="{86CB4B4D-7CA3-9044-876B-883B54F8677D}" type="slidenum">
              <a:rPr lang="en-CZ" smtClean="0"/>
              <a:pPr/>
              <a:t>9</a:t>
            </a:fld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DE7BB3-DBF8-706A-F970-8B93FEB240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2000" y="1585914"/>
            <a:ext cx="7560000" cy="2982962"/>
          </a:xfrm>
        </p:spPr>
        <p:txBody>
          <a:bodyPr>
            <a:noAutofit/>
          </a:bodyPr>
          <a:lstStyle/>
          <a:p>
            <a:pPr algn="just"/>
            <a:r>
              <a:rPr lang="cs-CZ" sz="1200" dirty="0"/>
              <a:t>Pokud jsou všechny problémy vyřešeny</a:t>
            </a:r>
          </a:p>
          <a:p>
            <a:pPr algn="just"/>
            <a:r>
              <a:rPr lang="cs-CZ" sz="1200" dirty="0"/>
              <a:t>Kontrola výsledků algoritmu se zadávacími parametry ze simulátoru</a:t>
            </a:r>
          </a:p>
          <a:p>
            <a:pPr algn="just"/>
            <a:endParaRPr lang="cs-CZ" sz="1200" dirty="0"/>
          </a:p>
        </p:txBody>
      </p:sp>
      <p:sp>
        <p:nvSpPr>
          <p:cNvPr id="12" name="Zástupný symbol pro zápatí 11">
            <a:extLst>
              <a:ext uri="{FF2B5EF4-FFF2-40B4-BE49-F238E27FC236}">
                <a16:creationId xmlns:a16="http://schemas.microsoft.com/office/drawing/2014/main" id="{ACD5793C-FAF7-1119-CC81-AD79A9C532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99" y="209500"/>
            <a:ext cx="7560000" cy="365125"/>
          </a:xfrm>
        </p:spPr>
        <p:txBody>
          <a:bodyPr/>
          <a:lstStyle/>
          <a:p>
            <a:r>
              <a:rPr lang="cs-CZ" dirty="0"/>
              <a:t>Vývoj algoritmu zarovnávání optických elementů s využitím obrazových dat ze zaměřovací kamery interferometru</a:t>
            </a:r>
          </a:p>
        </p:txBody>
      </p:sp>
      <p:sp>
        <p:nvSpPr>
          <p:cNvPr id="18" name="Zástupný symbol pro datum 17">
            <a:extLst>
              <a:ext uri="{FF2B5EF4-FFF2-40B4-BE49-F238E27FC236}">
                <a16:creationId xmlns:a16="http://schemas.microsoft.com/office/drawing/2014/main" id="{7B33F9A2-8994-78F4-9276-52BB931E52DC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9E039954-0893-4AC6-8021-245AB753B716}" type="datetime1">
              <a:rPr lang="cs-CZ" smtClean="0"/>
              <a:t>01.04.2026</a:t>
            </a:fld>
            <a:endParaRPr lang="cs-CZ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A6ABB4-B2D1-2494-3D9D-3F783DC7A9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0316" y="864679"/>
            <a:ext cx="2997503" cy="38361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C2B9520-F2B5-777C-E152-33B645CAEC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0315" y="864677"/>
            <a:ext cx="2997504" cy="383614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56488DA-4AF4-28E0-4567-CE826EA7FA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0316" y="864677"/>
            <a:ext cx="2997503" cy="383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8055475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8BAEA-3834-BE57-5340-7BBC4CD1B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17EAC-FB6A-C679-93FB-BBB76BB67F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999" y="892969"/>
            <a:ext cx="7560000" cy="560249"/>
          </a:xfrm>
        </p:spPr>
        <p:txBody>
          <a:bodyPr>
            <a:noAutofit/>
          </a:bodyPr>
          <a:lstStyle/>
          <a:p>
            <a:r>
              <a:rPr lang="cs-CZ" sz="2400" dirty="0"/>
              <a:t>Vyhodnocení výsledků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8B371B-F252-EA1D-312D-C6C82953367E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8684345" y="4700819"/>
            <a:ext cx="336813" cy="318396"/>
          </a:xfrm>
        </p:spPr>
        <p:txBody>
          <a:bodyPr/>
          <a:lstStyle/>
          <a:p>
            <a:fld id="{86CB4B4D-7CA3-9044-876B-883B54F8677D}" type="slidenum">
              <a:rPr lang="en-CZ" smtClean="0"/>
              <a:pPr/>
              <a:t>10</a:t>
            </a:fld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D35842-56F2-B8CE-44BB-846ED27B3A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2000" y="1585914"/>
            <a:ext cx="7560000" cy="2982962"/>
          </a:xfrm>
        </p:spPr>
        <p:txBody>
          <a:bodyPr>
            <a:noAutofit/>
          </a:bodyPr>
          <a:lstStyle/>
          <a:p>
            <a:pPr algn="just"/>
            <a:r>
              <a:rPr lang="cs-CZ" dirty="0"/>
              <a:t>Dosažení co nejmenšího radiusu vzorku</a:t>
            </a:r>
          </a:p>
          <a:p>
            <a:pPr algn="just"/>
            <a:r>
              <a:rPr lang="cs-CZ" dirty="0"/>
              <a:t>Dosažená přesnost přibližně 0,01 mm</a:t>
            </a:r>
          </a:p>
          <a:p>
            <a:pPr algn="just"/>
            <a:r>
              <a:rPr lang="cs-CZ" dirty="0"/>
              <a:t>Vyhodnocení časové náročnosti výpočtu (1-2s)</a:t>
            </a:r>
          </a:p>
        </p:txBody>
      </p:sp>
      <p:sp>
        <p:nvSpPr>
          <p:cNvPr id="12" name="Zástupný symbol pro zápatí 11">
            <a:extLst>
              <a:ext uri="{FF2B5EF4-FFF2-40B4-BE49-F238E27FC236}">
                <a16:creationId xmlns:a16="http://schemas.microsoft.com/office/drawing/2014/main" id="{B0714987-BC0D-96A4-4A4C-8DE6C57ECB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99" y="209500"/>
            <a:ext cx="7560000" cy="365125"/>
          </a:xfrm>
        </p:spPr>
        <p:txBody>
          <a:bodyPr/>
          <a:lstStyle/>
          <a:p>
            <a:r>
              <a:rPr lang="cs-CZ" dirty="0"/>
              <a:t>Vývoj algoritmu zarovnávání optických elementů s využitím obrazových dat ze zaměřovací kamery interferometru</a:t>
            </a:r>
          </a:p>
        </p:txBody>
      </p:sp>
      <p:sp>
        <p:nvSpPr>
          <p:cNvPr id="18" name="Zástupný symbol pro datum 17">
            <a:extLst>
              <a:ext uri="{FF2B5EF4-FFF2-40B4-BE49-F238E27FC236}">
                <a16:creationId xmlns:a16="http://schemas.microsoft.com/office/drawing/2014/main" id="{82FE48BF-71B9-DF3F-73D4-E663B36BF64C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9E039954-0893-4AC6-8021-245AB753B716}" type="datetime1">
              <a:rPr lang="cs-CZ" smtClean="0"/>
              <a:t>01.04.2026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305830501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FB1001-69F9-F3B6-B336-9F1BA6D77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9157D-83C6-0646-71D6-4B7745CEB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999" y="892969"/>
            <a:ext cx="7560000" cy="560249"/>
          </a:xfrm>
        </p:spPr>
        <p:txBody>
          <a:bodyPr>
            <a:noAutofit/>
          </a:bodyPr>
          <a:lstStyle/>
          <a:p>
            <a:r>
              <a:rPr lang="cs-CZ" sz="2400" dirty="0"/>
              <a:t>Závěr a přínosy práce</a:t>
            </a:r>
            <a:endParaRPr lang="en-CZ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5B9F5E-C1AD-7E13-EA0A-12218627DC2E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8684345" y="4700819"/>
            <a:ext cx="336813" cy="318396"/>
          </a:xfrm>
        </p:spPr>
        <p:txBody>
          <a:bodyPr/>
          <a:lstStyle/>
          <a:p>
            <a:fld id="{86CB4B4D-7CA3-9044-876B-883B54F8677D}" type="slidenum">
              <a:rPr lang="en-CZ" smtClean="0"/>
              <a:pPr/>
              <a:t>11</a:t>
            </a:fld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A81C81-5EB9-0134-CF98-26397E4B92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2000" y="1585914"/>
            <a:ext cx="7560000" cy="2982962"/>
          </a:xfrm>
        </p:spPr>
        <p:txBody>
          <a:bodyPr>
            <a:noAutofit/>
          </a:bodyPr>
          <a:lstStyle/>
          <a:p>
            <a:pPr marL="114300" indent="0" algn="just">
              <a:buNone/>
            </a:pPr>
            <a:r>
              <a:rPr lang="cs-CZ" dirty="0"/>
              <a:t>Byl vytvořen modul pro detekci polohy vzorku ze zaměřovací kamery interferometru a návrh korekce jeho zarovnání. Řešení dosahuje požadované přesnosti a je připravené pro integraci do měřicího systému.</a:t>
            </a:r>
          </a:p>
        </p:txBody>
      </p:sp>
      <p:sp>
        <p:nvSpPr>
          <p:cNvPr id="12" name="Zástupný symbol pro zápatí 11">
            <a:extLst>
              <a:ext uri="{FF2B5EF4-FFF2-40B4-BE49-F238E27FC236}">
                <a16:creationId xmlns:a16="http://schemas.microsoft.com/office/drawing/2014/main" id="{EA949AC8-A401-CC37-FBE8-CB39C3AB0B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99" y="209500"/>
            <a:ext cx="7560000" cy="365125"/>
          </a:xfrm>
        </p:spPr>
        <p:txBody>
          <a:bodyPr/>
          <a:lstStyle/>
          <a:p>
            <a:r>
              <a:rPr lang="cs-CZ" dirty="0"/>
              <a:t>Vývoj algoritmu zarovnávání optických elementů s využitím obrazových dat ze zaměřovací kamery interferometru</a:t>
            </a:r>
          </a:p>
        </p:txBody>
      </p:sp>
      <p:sp>
        <p:nvSpPr>
          <p:cNvPr id="18" name="Zástupný symbol pro datum 17">
            <a:extLst>
              <a:ext uri="{FF2B5EF4-FFF2-40B4-BE49-F238E27FC236}">
                <a16:creationId xmlns:a16="http://schemas.microsoft.com/office/drawing/2014/main" id="{5E06A05D-F8B4-90FA-DBD0-8160E313358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9E039954-0893-4AC6-8021-245AB753B716}" type="datetime1">
              <a:rPr lang="cs-CZ" smtClean="0"/>
              <a:t>01.04.2026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4150914633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8AF9B-16C5-6568-125E-16187492D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E2947-10B0-6586-D6FB-3F8AD80B0E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999" y="892969"/>
            <a:ext cx="7560000" cy="560249"/>
          </a:xfrm>
        </p:spPr>
        <p:txBody>
          <a:bodyPr>
            <a:noAutofit/>
          </a:bodyPr>
          <a:lstStyle/>
          <a:p>
            <a:r>
              <a:rPr lang="cs-CZ" sz="2400" dirty="0"/>
              <a:t>Reference</a:t>
            </a:r>
            <a:endParaRPr lang="en-CZ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A27AD22-F539-C605-9846-C1FC6BE0FFE3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8684345" y="4700819"/>
            <a:ext cx="336813" cy="318396"/>
          </a:xfrm>
        </p:spPr>
        <p:txBody>
          <a:bodyPr/>
          <a:lstStyle/>
          <a:p>
            <a:fld id="{86CB4B4D-7CA3-9044-876B-883B54F8677D}" type="slidenum">
              <a:rPr lang="en-CZ" smtClean="0"/>
              <a:pPr/>
              <a:t>12</a:t>
            </a:fld>
            <a:endParaRPr lang="en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DB36AB-0A63-B053-3EE6-4E994D2378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2000" y="1585914"/>
            <a:ext cx="7560000" cy="2982962"/>
          </a:xfrm>
        </p:spPr>
        <p:txBody>
          <a:bodyPr>
            <a:noAutofit/>
          </a:bodyPr>
          <a:lstStyle/>
          <a:p>
            <a:r>
              <a:rPr lang="cs-CZ" sz="1400" dirty="0"/>
              <a:t>Kawashima, N., Kondo, Y., Hirai, A., Bitou, Y.</a:t>
            </a:r>
            <a:br>
              <a:rPr lang="cs-CZ" sz="1400" dirty="0"/>
            </a:br>
            <a:r>
              <a:rPr lang="cs-CZ" sz="1400" i="1" dirty="0"/>
              <a:t>Novel analysis of alignment error on spherical Fizeau interferometer and uncertainty evaluation of sphericity calibration system based on random ball test.</a:t>
            </a:r>
            <a:br>
              <a:rPr lang="cs-CZ" sz="1400" dirty="0"/>
            </a:br>
            <a:r>
              <a:rPr lang="cs-CZ" sz="1400" dirty="0"/>
              <a:t>Optics and Lasers in Engineering, 2025.</a:t>
            </a:r>
          </a:p>
          <a:p>
            <a:r>
              <a:rPr lang="cs-CZ" sz="1400" dirty="0"/>
              <a:t>Malacara, D. (Ed.).</a:t>
            </a:r>
            <a:br>
              <a:rPr lang="cs-CZ" sz="1400" dirty="0"/>
            </a:br>
            <a:r>
              <a:rPr lang="cs-CZ" sz="1400" i="1" dirty="0"/>
              <a:t>Optical Shop Testing.</a:t>
            </a:r>
            <a:r>
              <a:rPr lang="cs-CZ" sz="1400" dirty="0"/>
              <a:t> 3rd ed., Wiley, 2007.</a:t>
            </a:r>
          </a:p>
          <a:p>
            <a:r>
              <a:rPr lang="cs-CZ" sz="1400" dirty="0"/>
              <a:t>Li, J., Quan, H., Jin, C., Liu, J., Zhu, X., Wang, J., Hu, S.</a:t>
            </a:r>
            <a:br>
              <a:rPr lang="cs-CZ" sz="1400" dirty="0"/>
            </a:br>
            <a:r>
              <a:rPr lang="cs-CZ" sz="1400" i="1" dirty="0"/>
              <a:t>A Model-Based Approach for Measuring Wavefront Aberrations Using Random Ball Residual Compensation.</a:t>
            </a:r>
            <a:br>
              <a:rPr lang="cs-CZ" sz="1400" dirty="0"/>
            </a:br>
            <a:r>
              <a:rPr lang="cs-CZ" sz="1400" dirty="0"/>
              <a:t>Photonics, 2023.</a:t>
            </a:r>
          </a:p>
          <a:p>
            <a:pPr marL="114300" indent="0" algn="just">
              <a:buNone/>
            </a:pPr>
            <a:endParaRPr lang="cs-CZ" dirty="0"/>
          </a:p>
        </p:txBody>
      </p:sp>
      <p:sp>
        <p:nvSpPr>
          <p:cNvPr id="12" name="Zástupný symbol pro zápatí 11">
            <a:extLst>
              <a:ext uri="{FF2B5EF4-FFF2-40B4-BE49-F238E27FC236}">
                <a16:creationId xmlns:a16="http://schemas.microsoft.com/office/drawing/2014/main" id="{DF434AB1-6F34-9323-40E3-DA5E353BCD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99" y="209500"/>
            <a:ext cx="7560000" cy="365125"/>
          </a:xfrm>
        </p:spPr>
        <p:txBody>
          <a:bodyPr/>
          <a:lstStyle/>
          <a:p>
            <a:r>
              <a:rPr lang="cs-CZ" dirty="0"/>
              <a:t>Vývoj algoritmu zarovnávání optických elementů s využitím obrazových dat ze zaměřovací kamery interferometru</a:t>
            </a:r>
          </a:p>
        </p:txBody>
      </p:sp>
      <p:sp>
        <p:nvSpPr>
          <p:cNvPr id="18" name="Zástupný symbol pro datum 17">
            <a:extLst>
              <a:ext uri="{FF2B5EF4-FFF2-40B4-BE49-F238E27FC236}">
                <a16:creationId xmlns:a16="http://schemas.microsoft.com/office/drawing/2014/main" id="{F829A724-DF91-40CD-51B1-E40A401D47F2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9E039954-0893-4AC6-8021-245AB753B716}" type="datetime1">
              <a:rPr lang="cs-CZ" smtClean="0"/>
              <a:t>01.04.2026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56142581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2E07845-6198-AF48-9339-1C648FC1AFF9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118800" y="3672909"/>
            <a:ext cx="7560001" cy="1218591"/>
          </a:xfrm>
        </p:spPr>
        <p:txBody>
          <a:bodyPr/>
          <a:lstStyle/>
          <a:p>
            <a:r>
              <a:rPr lang="cs-CZ" dirty="0"/>
              <a:t>Ondřej Donát</a:t>
            </a:r>
          </a:p>
          <a:p>
            <a:r>
              <a:rPr lang="cs-CZ" dirty="0"/>
              <a:t>Student</a:t>
            </a:r>
          </a:p>
          <a:p>
            <a:endParaRPr lang="cs-CZ" dirty="0"/>
          </a:p>
          <a:p>
            <a:endParaRPr lang="cs-CZ" dirty="0"/>
          </a:p>
          <a:p>
            <a:r>
              <a:rPr lang="cs-CZ" dirty="0"/>
              <a:t>ondrej.donat@tul.cz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FE6B1C1-900E-C94C-B7F9-DE5CD093B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999" y="1470590"/>
            <a:ext cx="7560000" cy="1661409"/>
          </a:xfrm>
        </p:spPr>
        <p:txBody>
          <a:bodyPr>
            <a:normAutofit/>
          </a:bodyPr>
          <a:lstStyle/>
          <a:p>
            <a:r>
              <a:rPr lang="cs-CZ" dirty="0"/>
              <a:t>Děkuji za pozornost</a:t>
            </a:r>
          </a:p>
        </p:txBody>
      </p:sp>
    </p:spTree>
    <p:extLst>
      <p:ext uri="{BB962C8B-B14F-4D97-AF65-F5344CB8AC3E}">
        <p14:creationId xmlns:p14="http://schemas.microsoft.com/office/powerpoint/2010/main" val="3946490105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Simple Light">
  <a:themeElements>
    <a:clrScheme name="FM TUL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A7603"/>
      </a:accent1>
      <a:accent2>
        <a:srgbClr val="212121"/>
      </a:accent2>
      <a:accent3>
        <a:srgbClr val="78909C"/>
      </a:accent3>
      <a:accent4>
        <a:srgbClr val="8F6024"/>
      </a:accent4>
      <a:accent5>
        <a:srgbClr val="0097A7"/>
      </a:accent5>
      <a:accent6>
        <a:srgbClr val="EEFF41"/>
      </a:accent6>
      <a:hlink>
        <a:srgbClr val="0000FF"/>
      </a:hlink>
      <a:folHlink>
        <a:srgbClr val="FF00FF"/>
      </a:folHlink>
    </a:clrScheme>
    <a:fontScheme name="Simple Light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FAB40"/>
      </a:accent1>
      <a:accent2>
        <a:srgbClr val="212121"/>
      </a:accent2>
      <a:accent3>
        <a:srgbClr val="78909C"/>
      </a:accent3>
      <a:accent4>
        <a:srgbClr val="8F6024"/>
      </a:accent4>
      <a:accent5>
        <a:srgbClr val="0097A7"/>
      </a:accent5>
      <a:accent6>
        <a:srgbClr val="EEFF41"/>
      </a:accent6>
      <a:hlink>
        <a:srgbClr val="0000FF"/>
      </a:hlink>
      <a:folHlink>
        <a:srgbClr val="FF00FF"/>
      </a:folHlink>
    </a:clrScheme>
    <a:fontScheme name="Simple Light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1442</TotalTime>
  <Words>595</Words>
  <Application>Microsoft Office PowerPoint</Application>
  <PresentationFormat>On-screen Show (16:9)</PresentationFormat>
  <Paragraphs>96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Cambria Math</vt:lpstr>
      <vt:lpstr>Inter</vt:lpstr>
      <vt:lpstr>Simple Light</vt:lpstr>
      <vt:lpstr>Vývoj algoritmu zarovnávání optických elementů s využitím obrazových dat ze zaměřovací kamery interferometru</vt:lpstr>
      <vt:lpstr>Úvod</vt:lpstr>
      <vt:lpstr>Návrh architektury softwaru</vt:lpstr>
      <vt:lpstr>Start</vt:lpstr>
      <vt:lpstr>Referenční snímek</vt:lpstr>
      <vt:lpstr>Snímek se vzorkem</vt:lpstr>
      <vt:lpstr>Posun po osách x,y</vt:lpstr>
      <vt:lpstr>Posun vzorku po ose Z</vt:lpstr>
      <vt:lpstr>Testy </vt:lpstr>
      <vt:lpstr>Vyhodnocení výsledků</vt:lpstr>
      <vt:lpstr>Závěr a přínosy práce</vt:lpstr>
      <vt:lpstr>Reference</vt:lpstr>
      <vt:lpstr>Děkuji za pozornost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FM</dc:creator>
  <cp:lastModifiedBy>Ondřej Donát</cp:lastModifiedBy>
  <cp:revision>135</cp:revision>
  <dcterms:modified xsi:type="dcterms:W3CDTF">2026-04-01T22:38:50Z</dcterms:modified>
</cp:coreProperties>
</file>