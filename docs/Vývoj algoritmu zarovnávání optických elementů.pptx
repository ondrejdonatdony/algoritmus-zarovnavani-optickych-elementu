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308" r:id="rId2"/>
    <p:sldId id="312" r:id="rId3"/>
    <p:sldId id="314" r:id="rId4"/>
    <p:sldId id="326" r:id="rId5"/>
    <p:sldId id="327" r:id="rId6"/>
    <p:sldId id="333" r:id="rId7"/>
    <p:sldId id="329" r:id="rId8"/>
    <p:sldId id="334" r:id="rId9"/>
    <p:sldId id="330" r:id="rId10"/>
    <p:sldId id="331" r:id="rId11"/>
    <p:sldId id="332" r:id="rId12"/>
    <p:sldId id="322" r:id="rId13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7603"/>
    <a:srgbClr val="5948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E2CD"/>
          </a:solidFill>
        </a:fill>
      </a:tcStyle>
    </a:wholeTbl>
    <a:band2H>
      <a:tcTxStyle/>
      <a:tcStyle>
        <a:tcBdr/>
        <a:fill>
          <a:solidFill>
            <a:srgbClr val="FF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5DBDE"/>
          </a:solidFill>
        </a:fill>
      </a:tcStyle>
    </a:wholeTbl>
    <a:band2H>
      <a:tcTxStyle/>
      <a:tcStyle>
        <a:tcBdr/>
        <a:fill>
          <a:solidFill>
            <a:srgbClr val="EBEEE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8FFCD"/>
          </a:solidFill>
        </a:fill>
      </a:tcStyle>
    </a:wholeTbl>
    <a:band2H>
      <a:tcTxStyle/>
      <a:tcStyle>
        <a:tcBdr/>
        <a:fill>
          <a:solidFill>
            <a:srgbClr val="FCFF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59"/>
  </p:normalViewPr>
  <p:slideViewPr>
    <p:cSldViewPr snapToGrid="0" snapToObjects="1">
      <p:cViewPr varScale="1">
        <p:scale>
          <a:sx n="129" d="100"/>
          <a:sy n="129" d="100"/>
        </p:scale>
        <p:origin x="114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95" d="100"/>
          <a:sy n="95" d="100"/>
        </p:scale>
        <p:origin x="358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1C68B45-3651-144C-9B42-ECFFE315109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957582-AB2F-6945-BF77-BD7DE7B090C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B667F0-AAF2-1C40-8CBB-C161C73BDB1E}" type="datetimeFigureOut">
              <a:rPr lang="en-CZ" smtClean="0"/>
              <a:t>02/18/2026</a:t>
            </a:fld>
            <a:endParaRPr lang="en-C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24A7D9-EF62-3A47-86DF-C907FD53C55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BA8DF4-B159-1F45-A0BE-816E4D0C71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F7A96C-A851-C743-AA2E-E27D6B4FD2D8}" type="slidenum">
              <a:rPr lang="en-CZ" smtClean="0"/>
              <a:t>‹#›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24018718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0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7" name="Shape 10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n-lt"/>
        <a:ea typeface="+mn-ea"/>
        <a:cs typeface="+mn-cs"/>
        <a:sym typeface="Arial"/>
      </a:defRPr>
    </a:lvl1pPr>
    <a:lvl2pPr indent="228600" latinLnBrk="0">
      <a:defRPr sz="1400">
        <a:latin typeface="+mn-lt"/>
        <a:ea typeface="+mn-ea"/>
        <a:cs typeface="+mn-cs"/>
        <a:sym typeface="Arial"/>
      </a:defRPr>
    </a:lvl2pPr>
    <a:lvl3pPr indent="457200" latinLnBrk="0">
      <a:defRPr sz="1400">
        <a:latin typeface="+mn-lt"/>
        <a:ea typeface="+mn-ea"/>
        <a:cs typeface="+mn-cs"/>
        <a:sym typeface="Arial"/>
      </a:defRPr>
    </a:lvl3pPr>
    <a:lvl4pPr indent="685800" latinLnBrk="0">
      <a:defRPr sz="1400">
        <a:latin typeface="+mn-lt"/>
        <a:ea typeface="+mn-ea"/>
        <a:cs typeface="+mn-cs"/>
        <a:sym typeface="Arial"/>
      </a:defRPr>
    </a:lvl4pPr>
    <a:lvl5pPr indent="914400" latinLnBrk="0">
      <a:defRPr sz="1400">
        <a:latin typeface="+mn-lt"/>
        <a:ea typeface="+mn-ea"/>
        <a:cs typeface="+mn-cs"/>
        <a:sym typeface="Arial"/>
      </a:defRPr>
    </a:lvl5pPr>
    <a:lvl6pPr indent="1143000" latinLnBrk="0">
      <a:defRPr sz="1400">
        <a:latin typeface="+mn-lt"/>
        <a:ea typeface="+mn-ea"/>
        <a:cs typeface="+mn-cs"/>
        <a:sym typeface="Arial"/>
      </a:defRPr>
    </a:lvl6pPr>
    <a:lvl7pPr indent="1371600" latinLnBrk="0">
      <a:defRPr sz="1400">
        <a:latin typeface="+mn-lt"/>
        <a:ea typeface="+mn-ea"/>
        <a:cs typeface="+mn-cs"/>
        <a:sym typeface="Arial"/>
      </a:defRPr>
    </a:lvl7pPr>
    <a:lvl8pPr indent="1600200" latinLnBrk="0">
      <a:defRPr sz="1400">
        <a:latin typeface="+mn-lt"/>
        <a:ea typeface="+mn-ea"/>
        <a:cs typeface="+mn-cs"/>
        <a:sym typeface="Arial"/>
      </a:defRPr>
    </a:lvl8pPr>
    <a:lvl9pPr indent="1828800" latinLnBrk="0">
      <a:defRPr sz="1400">
        <a:latin typeface="+mn-lt"/>
        <a:ea typeface="+mn-ea"/>
        <a:cs typeface="+mn-cs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0216014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18800" y="3672909"/>
            <a:ext cx="7560001" cy="1218591"/>
          </a:xfrm>
          <a:prstGeom prst="rect">
            <a:avLst/>
          </a:prstGeom>
        </p:spPr>
        <p:txBody>
          <a:bodyPr lIns="0" anchor="b" anchorCtr="0">
            <a:noAutofit/>
          </a:bodyPr>
          <a:lstStyle>
            <a:lvl1pPr marL="342900" indent="-228600" algn="l">
              <a:lnSpc>
                <a:spcPct val="100000"/>
              </a:lnSpc>
              <a:buClrTx/>
              <a:buSzTx/>
              <a:buFontTx/>
              <a:buNone/>
              <a:defRPr sz="1400">
                <a:solidFill>
                  <a:schemeClr val="bg1"/>
                </a:solidFill>
              </a:defRPr>
            </a:lvl1pPr>
            <a:lvl2pPr marL="342900" indent="254000" algn="l">
              <a:lnSpc>
                <a:spcPct val="100000"/>
              </a:lnSpc>
              <a:buClrTx/>
              <a:buSzTx/>
              <a:buFontTx/>
              <a:buNone/>
              <a:defRPr sz="1400">
                <a:solidFill>
                  <a:schemeClr val="bg1"/>
                </a:solidFill>
              </a:defRPr>
            </a:lvl2pPr>
            <a:lvl3pPr marL="342900" indent="711200" algn="l">
              <a:lnSpc>
                <a:spcPct val="100000"/>
              </a:lnSpc>
              <a:buClrTx/>
              <a:buSzTx/>
              <a:buFontTx/>
              <a:buNone/>
              <a:defRPr sz="1400">
                <a:solidFill>
                  <a:schemeClr val="bg1"/>
                </a:solidFill>
              </a:defRPr>
            </a:lvl3pPr>
            <a:lvl4pPr marL="342900" indent="1168400" algn="l">
              <a:lnSpc>
                <a:spcPct val="100000"/>
              </a:lnSpc>
              <a:buClrTx/>
              <a:buSzTx/>
              <a:buFontTx/>
              <a:buNone/>
              <a:defRPr sz="1400">
                <a:solidFill>
                  <a:schemeClr val="bg1"/>
                </a:solidFill>
              </a:defRPr>
            </a:lvl4pPr>
            <a:lvl5pPr marL="342900" indent="1625600" algn="l">
              <a:lnSpc>
                <a:spcPct val="100000"/>
              </a:lnSpc>
              <a:buClrTx/>
              <a:buSzTx/>
              <a:buFontTx/>
              <a:buNone/>
              <a:defRPr sz="1400">
                <a:solidFill>
                  <a:schemeClr val="bg1"/>
                </a:solidFill>
              </a:defRPr>
            </a:lvl5pPr>
          </a:lstStyle>
          <a:p>
            <a:r>
              <a:rPr lang="cs-CZ" noProof="0"/>
              <a:t>Body Level One</a:t>
            </a:r>
          </a:p>
          <a:p>
            <a:pPr lvl="1"/>
            <a:r>
              <a:rPr lang="cs-CZ" noProof="0"/>
              <a:t>Body Level Two</a:t>
            </a:r>
          </a:p>
          <a:p>
            <a:pPr lvl="2"/>
            <a:r>
              <a:rPr lang="cs-CZ" noProof="0"/>
              <a:t>Body Level Three</a:t>
            </a:r>
          </a:p>
          <a:p>
            <a:pPr lvl="3"/>
            <a:r>
              <a:rPr lang="cs-CZ" noProof="0"/>
              <a:t>Body Level Four</a:t>
            </a:r>
          </a:p>
          <a:p>
            <a:pPr lvl="4"/>
            <a:r>
              <a:rPr lang="cs-CZ" noProof="0"/>
              <a:t>Body Level Five</a:t>
            </a:r>
          </a:p>
        </p:txBody>
      </p:sp>
      <p:sp>
        <p:nvSpPr>
          <p:cNvPr id="6" name="Title Text">
            <a:extLst>
              <a:ext uri="{FF2B5EF4-FFF2-40B4-BE49-F238E27FC236}">
                <a16:creationId xmlns:a16="http://schemas.microsoft.com/office/drawing/2014/main" id="{A72E2942-9AC5-6E47-9216-30E885FB5BD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251999" y="1470590"/>
            <a:ext cx="7560000" cy="1661409"/>
          </a:xfrm>
          <a:prstGeom prst="rect">
            <a:avLst/>
          </a:prstGeom>
        </p:spPr>
        <p:txBody>
          <a:bodyPr lIns="0" anchor="t" anchorCtr="0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cs-CZ" noProof="0"/>
              <a:t>Title Text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1FD7B1-E0AD-5042-856D-7A5E7BF3905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999" y="252000"/>
            <a:ext cx="8640000" cy="795828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679430" y="4690756"/>
            <a:ext cx="341728" cy="33852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CB4B4D-7CA3-9044-876B-883B54F8677D}" type="slidenum">
              <a:rPr lang="en-CZ" smtClean="0"/>
              <a:pPr/>
              <a:t>‹#›</a:t>
            </a:fld>
            <a:endParaRPr lang="en-CZ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D00B212-B963-B541-AB2C-C86A83561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01" y="1682229"/>
            <a:ext cx="7560000" cy="1800000"/>
          </a:xfrm>
        </p:spPr>
        <p:txBody>
          <a:bodyPr lIns="0" anchor="t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endParaRPr lang="en-CZ" sz="4000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524CCA-31EC-AA4F-ADA0-E868D4F8EF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000" y="4608000"/>
            <a:ext cx="1638318" cy="288000"/>
          </a:xfrm>
          <a:prstGeom prst="rect">
            <a:avLst/>
          </a:prstGeom>
        </p:spPr>
      </p:pic>
      <p:sp>
        <p:nvSpPr>
          <p:cNvPr id="8" name="Zástupný symbol pro zápatí 4">
            <a:extLst>
              <a:ext uri="{FF2B5EF4-FFF2-40B4-BE49-F238E27FC236}">
                <a16:creationId xmlns:a16="http://schemas.microsoft.com/office/drawing/2014/main" id="{0E833723-F317-4C40-A4EF-C74D82F4D8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99" y="209500"/>
            <a:ext cx="7560000" cy="365125"/>
          </a:xfrm>
          <a:prstGeom prst="rect">
            <a:avLst/>
          </a:prstGeom>
        </p:spPr>
        <p:txBody>
          <a:bodyPr vert="horz" lIns="0" tIns="0" rIns="91440" bIns="45720" rtlCol="0" anchor="t" anchorCtr="0"/>
          <a:lstStyle>
            <a:lvl1pPr algn="l">
              <a:defRPr sz="1400">
                <a:solidFill>
                  <a:schemeClr val="bg1"/>
                </a:solidFill>
              </a:defRPr>
            </a:lvl1pPr>
          </a:lstStyle>
          <a:p>
            <a:r>
              <a:rPr lang="cs-CZ"/>
              <a:t>Název prezentace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79743000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_AND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252000" y="826625"/>
            <a:ext cx="7560000" cy="572701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cs-CZ" noProof="0"/>
              <a:t>Title Text</a:t>
            </a:r>
          </a:p>
        </p:txBody>
      </p:sp>
      <p:sp>
        <p:nvSpPr>
          <p:cNvPr id="29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252000" y="1592352"/>
            <a:ext cx="7560000" cy="2809390"/>
          </a:xfrm>
          <a:prstGeom prst="rect">
            <a:avLst/>
          </a:prstGeom>
        </p:spPr>
        <p:txBody>
          <a:bodyPr lIns="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cs-CZ" noProof="0"/>
              <a:t>Body Level One</a:t>
            </a:r>
          </a:p>
          <a:p>
            <a:pPr lvl="1"/>
            <a:r>
              <a:rPr lang="cs-CZ" noProof="0"/>
              <a:t>Body Level Two</a:t>
            </a:r>
          </a:p>
          <a:p>
            <a:pPr lvl="2"/>
            <a:r>
              <a:rPr lang="cs-CZ" noProof="0"/>
              <a:t>Body Level Three</a:t>
            </a:r>
          </a:p>
          <a:p>
            <a:pPr lvl="3"/>
            <a:r>
              <a:rPr lang="cs-CZ" noProof="0"/>
              <a:t>Body Level Four</a:t>
            </a:r>
          </a:p>
          <a:p>
            <a:pPr lvl="4"/>
            <a:r>
              <a:rPr lang="cs-CZ" noProof="0"/>
              <a:t>Body Level Five</a:t>
            </a:r>
          </a:p>
        </p:txBody>
      </p:sp>
      <p:sp>
        <p:nvSpPr>
          <p:cNvPr id="3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9058F7-A211-DC49-8534-E8DD4F8882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000" y="4608000"/>
            <a:ext cx="1638318" cy="288000"/>
          </a:xfrm>
          <a:prstGeom prst="rect">
            <a:avLst/>
          </a:prstGeom>
        </p:spPr>
      </p:pic>
      <p:sp>
        <p:nvSpPr>
          <p:cNvPr id="8" name="Zástupný symbol pro datum 3">
            <a:extLst>
              <a:ext uri="{FF2B5EF4-FFF2-40B4-BE49-F238E27FC236}">
                <a16:creationId xmlns:a16="http://schemas.microsoft.com/office/drawing/2014/main" id="{FDDAE5FD-C8BD-4C72-8601-8EC6B1BE0E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882673" y="209500"/>
            <a:ext cx="1139279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r">
              <a:defRPr sz="1000">
                <a:solidFill>
                  <a:srgbClr val="595959"/>
                </a:solidFill>
              </a:defRPr>
            </a:lvl1pPr>
          </a:lstStyle>
          <a:p>
            <a:fld id="{B671C09C-26A4-481B-9925-417A93B4C9A9}" type="datetime1">
              <a:rPr lang="cs-CZ" smtClean="0"/>
              <a:t>18.02.2026</a:t>
            </a:fld>
            <a:endParaRPr lang="cs-CZ" dirty="0"/>
          </a:p>
        </p:txBody>
      </p:sp>
      <p:sp>
        <p:nvSpPr>
          <p:cNvPr id="9" name="Zástupný symbol pro zápatí 4">
            <a:extLst>
              <a:ext uri="{FF2B5EF4-FFF2-40B4-BE49-F238E27FC236}">
                <a16:creationId xmlns:a16="http://schemas.microsoft.com/office/drawing/2014/main" id="{ABD0A090-7DC4-4045-BD51-179C9D8D2D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99" y="209500"/>
            <a:ext cx="7560000" cy="365125"/>
          </a:xfrm>
          <a:prstGeom prst="rect">
            <a:avLst/>
          </a:prstGeom>
        </p:spPr>
        <p:txBody>
          <a:bodyPr vert="horz" lIns="0" tIns="0" rIns="91440" bIns="45720" rtlCol="0" anchor="t" anchorCtr="0"/>
          <a:lstStyle>
            <a:lvl1pPr algn="l">
              <a:defRPr sz="1400">
                <a:solidFill>
                  <a:srgbClr val="EA7603"/>
                </a:solidFill>
              </a:defRPr>
            </a:lvl1pPr>
          </a:lstStyle>
          <a:p>
            <a:r>
              <a:rPr lang="cs-CZ" dirty="0"/>
              <a:t>Název prezentace</a:t>
            </a:r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251999" y="770784"/>
            <a:ext cx="7560000" cy="2361215"/>
          </a:xfrm>
          <a:prstGeom prst="rect">
            <a:avLst/>
          </a:prstGeom>
        </p:spPr>
        <p:txBody>
          <a:bodyPr lIns="0" anchor="ctr"/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cs-CZ" noProof="0" dirty="0" err="1"/>
              <a:t>Title</a:t>
            </a:r>
            <a:r>
              <a:rPr lang="cs-CZ" noProof="0" dirty="0"/>
              <a:t> Text</a:t>
            </a:r>
          </a:p>
        </p:txBody>
      </p:sp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5" name="Body Level One…">
            <a:extLst>
              <a:ext uri="{FF2B5EF4-FFF2-40B4-BE49-F238E27FC236}">
                <a16:creationId xmlns:a16="http://schemas.microsoft.com/office/drawing/2014/main" id="{6A91278C-EE2F-154C-A334-789EFD7AC271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252000" y="3132000"/>
            <a:ext cx="7560000" cy="1436875"/>
          </a:xfrm>
          <a:prstGeom prst="rect">
            <a:avLst/>
          </a:prstGeom>
        </p:spPr>
        <p:txBody>
          <a:bodyPr lIns="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cs-CZ" noProof="0" dirty="0"/>
              <a:t>Body Level </a:t>
            </a:r>
            <a:r>
              <a:rPr lang="cs-CZ" noProof="0" dirty="0" err="1"/>
              <a:t>One</a:t>
            </a:r>
            <a:endParaRPr lang="cs-CZ" noProof="0" dirty="0"/>
          </a:p>
          <a:p>
            <a:pPr lvl="1"/>
            <a:r>
              <a:rPr lang="cs-CZ" noProof="0" dirty="0"/>
              <a:t>Body Level </a:t>
            </a:r>
            <a:r>
              <a:rPr lang="cs-CZ" noProof="0" dirty="0" err="1"/>
              <a:t>Two</a:t>
            </a:r>
            <a:endParaRPr lang="cs-CZ" noProof="0" dirty="0"/>
          </a:p>
          <a:p>
            <a:pPr lvl="2"/>
            <a:r>
              <a:rPr lang="cs-CZ" noProof="0" dirty="0"/>
              <a:t>Body Level </a:t>
            </a:r>
            <a:r>
              <a:rPr lang="cs-CZ" noProof="0" dirty="0" err="1"/>
              <a:t>Three</a:t>
            </a:r>
            <a:endParaRPr lang="cs-CZ" noProof="0" dirty="0"/>
          </a:p>
          <a:p>
            <a:pPr lvl="3"/>
            <a:r>
              <a:rPr lang="cs-CZ" noProof="0" dirty="0"/>
              <a:t>Body Level </a:t>
            </a:r>
            <a:r>
              <a:rPr lang="cs-CZ" noProof="0" dirty="0" err="1"/>
              <a:t>Four</a:t>
            </a:r>
            <a:endParaRPr lang="cs-CZ" noProof="0" dirty="0"/>
          </a:p>
          <a:p>
            <a:pPr lvl="4"/>
            <a:r>
              <a:rPr lang="cs-CZ" noProof="0" dirty="0"/>
              <a:t>Body Level </a:t>
            </a:r>
            <a:r>
              <a:rPr lang="cs-CZ" noProof="0" dirty="0" err="1"/>
              <a:t>Five</a:t>
            </a:r>
            <a:endParaRPr lang="cs-CZ" noProof="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275B87D-F962-0347-9971-EF6620BC2C2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000" y="4608000"/>
            <a:ext cx="1638318" cy="288000"/>
          </a:xfrm>
          <a:prstGeom prst="rect">
            <a:avLst/>
          </a:prstGeom>
        </p:spPr>
      </p:pic>
      <p:sp>
        <p:nvSpPr>
          <p:cNvPr id="7" name="Zástupný symbol pro datum 3">
            <a:extLst>
              <a:ext uri="{FF2B5EF4-FFF2-40B4-BE49-F238E27FC236}">
                <a16:creationId xmlns:a16="http://schemas.microsoft.com/office/drawing/2014/main" id="{48BE41EB-DA34-4014-BDB3-313A9AAD7F97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7882673" y="209500"/>
            <a:ext cx="1139279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r">
              <a:defRPr sz="1000">
                <a:solidFill>
                  <a:srgbClr val="595959"/>
                </a:solidFill>
              </a:defRPr>
            </a:lvl1pPr>
          </a:lstStyle>
          <a:p>
            <a:fld id="{250028DA-67BE-4319-9956-88135556FCE7}" type="datetime1">
              <a:rPr lang="cs-CZ" smtClean="0"/>
              <a:t>18.02.2026</a:t>
            </a:fld>
            <a:endParaRPr lang="cs-CZ" dirty="0"/>
          </a:p>
        </p:txBody>
      </p:sp>
      <p:sp>
        <p:nvSpPr>
          <p:cNvPr id="10" name="Zástupný symbol pro zápatí 4">
            <a:extLst>
              <a:ext uri="{FF2B5EF4-FFF2-40B4-BE49-F238E27FC236}">
                <a16:creationId xmlns:a16="http://schemas.microsoft.com/office/drawing/2014/main" id="{EB18B1ED-13FC-4105-8991-0EE16B476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99" y="209500"/>
            <a:ext cx="7560000" cy="365125"/>
          </a:xfrm>
          <a:prstGeom prst="rect">
            <a:avLst/>
          </a:prstGeom>
        </p:spPr>
        <p:txBody>
          <a:bodyPr vert="horz" lIns="0" tIns="0" rIns="91440" bIns="45720" rtlCol="0" anchor="t" anchorCtr="0"/>
          <a:lstStyle>
            <a:lvl1pPr algn="l">
              <a:defRPr sz="1400">
                <a:solidFill>
                  <a:srgbClr val="EA7603"/>
                </a:solidFill>
              </a:defRPr>
            </a:lvl1pPr>
          </a:lstStyle>
          <a:p>
            <a:r>
              <a:rPr lang="cs-CZ" dirty="0"/>
              <a:t>Název prezentace</a:t>
            </a:r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91424" rIns="91424" bIns="91424">
            <a:normAutofit/>
          </a:bodyPr>
          <a:lstStyle/>
          <a:p>
            <a:r>
              <a:rPr lang="cs-CZ" noProof="0"/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311699" y="1152475"/>
            <a:ext cx="8520602" cy="341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91424" rIns="91424" bIns="91424">
            <a:normAutofit/>
          </a:bodyPr>
          <a:lstStyle/>
          <a:p>
            <a:r>
              <a:rPr lang="cs-CZ" noProof="0"/>
              <a:t>Body Level One</a:t>
            </a:r>
          </a:p>
          <a:p>
            <a:pPr lvl="1"/>
            <a:r>
              <a:rPr lang="cs-CZ" noProof="0"/>
              <a:t>Body Level Two</a:t>
            </a:r>
          </a:p>
          <a:p>
            <a:pPr lvl="2"/>
            <a:r>
              <a:rPr lang="cs-CZ" noProof="0"/>
              <a:t>Body Level Three</a:t>
            </a:r>
          </a:p>
          <a:p>
            <a:pPr lvl="3"/>
            <a:r>
              <a:rPr lang="cs-CZ" noProof="0"/>
              <a:t>Body Level Four</a:t>
            </a:r>
          </a:p>
          <a:p>
            <a:pPr lvl="4"/>
            <a:r>
              <a:rPr lang="cs-CZ" noProof="0"/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684345" y="4700819"/>
            <a:ext cx="336813" cy="318396"/>
          </a:xfrm>
          <a:prstGeom prst="rect">
            <a:avLst/>
          </a:prstGeom>
          <a:ln w="12700">
            <a:miter lim="400000"/>
          </a:ln>
        </p:spPr>
        <p:txBody>
          <a:bodyPr wrap="none" lIns="91424" tIns="91424" rIns="91424" bIns="91424" anchor="ctr">
            <a:spAutoFit/>
          </a:bodyPr>
          <a:lstStyle>
            <a:lvl1pPr algn="r">
              <a:defRPr sz="1000">
                <a:solidFill>
                  <a:schemeClr val="accent2">
                    <a:lumOff val="21764"/>
                  </a:schemeClr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0" r:id="rId2"/>
    <p:sldLayoutId id="2147483651" r:id="rId3"/>
    <p:sldLayoutId id="2147483655" r:id="rId4"/>
  </p:sldLayoutIdLst>
  <p:transition spd="med"/>
  <p:hf hdr="0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titleStyle>
    <p:bodyStyle>
      <a:lvl1pPr marL="457200" marR="0" indent="-342900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sz="180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1pPr>
      <a:lvl2pPr marL="10051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sz="180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2pPr>
      <a:lvl3pPr marL="14623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sz="180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3pPr>
      <a:lvl4pPr marL="19195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sz="180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4pPr>
      <a:lvl5pPr marL="23767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sz="180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5pPr>
      <a:lvl6pPr marL="28339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sz="180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6pPr>
      <a:lvl7pPr marL="32911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sz="180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7pPr>
      <a:lvl8pPr marL="37483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sz="180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8pPr>
      <a:lvl9pPr marL="42055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sz="180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2E07845-6198-AF48-9339-1C648FC1AFF9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cs-CZ" dirty="0"/>
              <a:t>Ondřej Donát</a:t>
            </a:r>
          </a:p>
          <a:p>
            <a:r>
              <a:rPr lang="cs-CZ" dirty="0"/>
              <a:t>Student</a:t>
            </a:r>
          </a:p>
          <a:p>
            <a:endParaRPr lang="cs-CZ" dirty="0"/>
          </a:p>
          <a:p>
            <a:endParaRPr lang="cs-CZ" dirty="0"/>
          </a:p>
          <a:p>
            <a:r>
              <a:rPr lang="cs-CZ" dirty="0"/>
              <a:t>ondrej.donat@tul.cz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FE6B1C1-900E-C94C-B7F9-DE5CD093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999" y="1470590"/>
            <a:ext cx="7560000" cy="1916077"/>
          </a:xfrm>
        </p:spPr>
        <p:txBody>
          <a:bodyPr>
            <a:normAutofit/>
          </a:bodyPr>
          <a:lstStyle/>
          <a:p>
            <a:pPr algn="just"/>
            <a:r>
              <a:rPr lang="cs-CZ" sz="3200" dirty="0"/>
              <a:t>Vývoj algoritmu zarovnávání optických elementů s využitím obrazových dat ze zaměřovací kamery interferometru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5B55F44-FDC6-5295-AB05-DBA0BD705E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altLang="cs-CZ" sz="1200" b="1" i="0" u="none" strike="noStrike" cap="none" normalizeH="0" baseline="0">
                <a:ln>
                  <a:noFill/>
                </a:ln>
                <a:solidFill>
                  <a:srgbClr val="EA7603"/>
                </a:solidFill>
                <a:effectLst/>
                <a:latin typeface="Inter"/>
                <a:ea typeface="Times New Roman" panose="02020603050405020304" pitchFamily="18" charset="0"/>
                <a:cs typeface="Times New Roman" panose="02020603050405020304" pitchFamily="18" charset="0"/>
              </a:rPr>
              <a:t>Vývoj algoritmu zarovnávání optických elementů s využitím obrazových dat ze zaměřovací kamery interferometru</a:t>
            </a:r>
            <a:endParaRPr kumimoji="0" lang="cs-CZ" altLang="cs-CZ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4746387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 10">
            <a:extLst>
              <a:ext uri="{FF2B5EF4-FFF2-40B4-BE49-F238E27FC236}">
                <a16:creationId xmlns:a16="http://schemas.microsoft.com/office/drawing/2014/main" id="{F9F11BB4-A857-46A6-B49C-C2F99C200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2400" dirty="0"/>
              <a:t>Obsah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C22D5-F411-4F47-A18E-FE74300B1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2000" y="1214438"/>
            <a:ext cx="7560000" cy="3187304"/>
          </a:xfrm>
        </p:spPr>
        <p:txBody>
          <a:bodyPr>
            <a:noAutofit/>
          </a:bodyPr>
          <a:lstStyle/>
          <a:p>
            <a:pPr marL="114300" indent="0">
              <a:buNone/>
            </a:pPr>
            <a:endParaRPr lang="en-CZ" dirty="0"/>
          </a:p>
          <a:p>
            <a:r>
              <a:rPr lang="cs-CZ" dirty="0"/>
              <a:t>Úvod</a:t>
            </a:r>
            <a:endParaRPr lang="en-CZ" dirty="0"/>
          </a:p>
          <a:p>
            <a:r>
              <a:rPr lang="cs-CZ" dirty="0"/>
              <a:t>Princip interferometrie a zpracování obrazu</a:t>
            </a:r>
            <a:endParaRPr lang="en-CZ" dirty="0"/>
          </a:p>
          <a:p>
            <a:r>
              <a:rPr lang="cs-CZ" dirty="0"/>
              <a:t>Návrh architektury softwaru</a:t>
            </a:r>
          </a:p>
          <a:p>
            <a:r>
              <a:rPr lang="cs-CZ" dirty="0"/>
              <a:t>Implementace detekčního algoritmu</a:t>
            </a:r>
          </a:p>
          <a:p>
            <a:pPr lvl="1"/>
            <a:r>
              <a:rPr lang="cs-CZ" dirty="0"/>
              <a:t>Implementace pro osy x,y</a:t>
            </a:r>
          </a:p>
          <a:p>
            <a:pPr lvl="1"/>
            <a:r>
              <a:rPr lang="cs-CZ" dirty="0"/>
              <a:t>Implementace pro osu z</a:t>
            </a:r>
          </a:p>
          <a:p>
            <a:r>
              <a:rPr lang="cs-CZ" dirty="0"/>
              <a:t>Testování a optimalizace</a:t>
            </a:r>
          </a:p>
          <a:p>
            <a:r>
              <a:rPr lang="cs-CZ" dirty="0"/>
              <a:t>Vyhodnocení výsledků</a:t>
            </a:r>
          </a:p>
          <a:p>
            <a:r>
              <a:rPr lang="cs-CZ" dirty="0"/>
              <a:t>Závěr a přínosy práce</a:t>
            </a:r>
          </a:p>
          <a:p>
            <a:r>
              <a:rPr lang="cs-CZ" dirty="0"/>
              <a:t>Reference</a:t>
            </a:r>
            <a:endParaRPr lang="en-C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F8C8DC-D524-BA4B-96CC-70DEC0069C2C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8684345" y="4700819"/>
            <a:ext cx="336813" cy="318396"/>
          </a:xfrm>
        </p:spPr>
        <p:txBody>
          <a:bodyPr/>
          <a:lstStyle/>
          <a:p>
            <a:fld id="{86CB4B4D-7CA3-9044-876B-883B54F8677D}" type="slidenum">
              <a:rPr lang="en-CZ" smtClean="0"/>
              <a:pPr/>
              <a:t>2</a:t>
            </a:fld>
            <a:endParaRPr lang="en-CZ" dirty="0"/>
          </a:p>
        </p:txBody>
      </p:sp>
      <p:sp>
        <p:nvSpPr>
          <p:cNvPr id="12" name="Zástupný symbol pro zápatí 11">
            <a:extLst>
              <a:ext uri="{FF2B5EF4-FFF2-40B4-BE49-F238E27FC236}">
                <a16:creationId xmlns:a16="http://schemas.microsoft.com/office/drawing/2014/main" id="{65983EB6-9FA1-45FE-8FC4-35CCEBE017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cs-CZ" dirty="0"/>
              <a:t>Vývoj algoritmu zarovnávání optických elementů s využitím obrazových dat ze zaměřovací kamery interferometru</a:t>
            </a:r>
          </a:p>
        </p:txBody>
      </p:sp>
      <p:sp>
        <p:nvSpPr>
          <p:cNvPr id="14" name="Zástupný symbol pro datum 13">
            <a:extLst>
              <a:ext uri="{FF2B5EF4-FFF2-40B4-BE49-F238E27FC236}">
                <a16:creationId xmlns:a16="http://schemas.microsoft.com/office/drawing/2014/main" id="{A9EA49E4-E3EB-43DE-90EE-2D2E18CA8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3132F-313C-44A9-8532-444953540FC9}" type="datetime1">
              <a:rPr lang="cs-CZ" smtClean="0"/>
              <a:t>18.02.2026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213738870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DB765-7BB9-4940-BE79-162D40FE6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999" y="892969"/>
            <a:ext cx="7560000" cy="560249"/>
          </a:xfrm>
        </p:spPr>
        <p:txBody>
          <a:bodyPr>
            <a:noAutofit/>
          </a:bodyPr>
          <a:lstStyle/>
          <a:p>
            <a:r>
              <a:rPr lang="cs-CZ" sz="2400" dirty="0"/>
              <a:t>Úvod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4B3469-47E2-0F4E-9011-5BFFC9FCF38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8684345" y="4700819"/>
            <a:ext cx="336813" cy="318396"/>
          </a:xfrm>
        </p:spPr>
        <p:txBody>
          <a:bodyPr/>
          <a:lstStyle/>
          <a:p>
            <a:fld id="{86CB4B4D-7CA3-9044-876B-883B54F8677D}" type="slidenum">
              <a:rPr lang="en-CZ" smtClean="0"/>
              <a:pPr/>
              <a:t>3</a:t>
            </a:fld>
            <a:endParaRPr lang="en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87C0DD-268F-4D4D-9248-F0A2A739D1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2000" y="1585914"/>
            <a:ext cx="7560000" cy="2982962"/>
          </a:xfrm>
        </p:spPr>
        <p:txBody>
          <a:bodyPr>
            <a:noAutofit/>
          </a:bodyPr>
          <a:lstStyle/>
          <a:p>
            <a:pPr marL="114300" indent="0" algn="just">
              <a:buNone/>
            </a:pPr>
            <a:r>
              <a:rPr lang="cs-CZ" dirty="0"/>
              <a:t>Práce se zabývá zpracováním obrazu ze zaměřovací kamery interferometru pro přesné zarovnání měřeného vzorku. Cílem je vytvořit výpočetní modul v jazyce C#, který detekuje polohu vzorku a navrhne korekci polohovacího systému.</a:t>
            </a:r>
          </a:p>
        </p:txBody>
      </p:sp>
      <p:sp>
        <p:nvSpPr>
          <p:cNvPr id="12" name="Zástupný symbol pro zápatí 11">
            <a:extLst>
              <a:ext uri="{FF2B5EF4-FFF2-40B4-BE49-F238E27FC236}">
                <a16:creationId xmlns:a16="http://schemas.microsoft.com/office/drawing/2014/main" id="{28172E1B-E6E3-4A3C-BBE0-89BE02F23F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99" y="209500"/>
            <a:ext cx="7560000" cy="365125"/>
          </a:xfrm>
        </p:spPr>
        <p:txBody>
          <a:bodyPr/>
          <a:lstStyle/>
          <a:p>
            <a:r>
              <a:rPr lang="cs-CZ" dirty="0"/>
              <a:t>Vývoj algoritmu zarovnávání optických elementů s využitím obrazových dat ze zaměřovací kamery interferometru</a:t>
            </a:r>
          </a:p>
        </p:txBody>
      </p:sp>
      <p:sp>
        <p:nvSpPr>
          <p:cNvPr id="18" name="Zástupný symbol pro datum 17">
            <a:extLst>
              <a:ext uri="{FF2B5EF4-FFF2-40B4-BE49-F238E27FC236}">
                <a16:creationId xmlns:a16="http://schemas.microsoft.com/office/drawing/2014/main" id="{C4E6C7BD-7F79-498A-B83C-0759179E5C3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E039954-0893-4AC6-8021-245AB753B716}" type="datetime1">
              <a:rPr lang="cs-CZ" smtClean="0"/>
              <a:t>18.02.2026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796727996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C90C5-BEB2-EB00-892B-30539350B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3A48A-934C-AF4F-25A7-F782D227A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999" y="892969"/>
            <a:ext cx="7560000" cy="560249"/>
          </a:xfrm>
        </p:spPr>
        <p:txBody>
          <a:bodyPr>
            <a:noAutofit/>
          </a:bodyPr>
          <a:lstStyle/>
          <a:p>
            <a:r>
              <a:rPr lang="cs-CZ" sz="2400" dirty="0"/>
              <a:t>Princip interferometrie a zpracování obrazu</a:t>
            </a:r>
            <a:endParaRPr lang="en-CZ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6AE0843-A92F-CF29-7995-5EA5662F3E42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8684345" y="4700819"/>
            <a:ext cx="336813" cy="318396"/>
          </a:xfrm>
        </p:spPr>
        <p:txBody>
          <a:bodyPr/>
          <a:lstStyle/>
          <a:p>
            <a:fld id="{86CB4B4D-7CA3-9044-876B-883B54F8677D}" type="slidenum">
              <a:rPr lang="en-CZ" smtClean="0"/>
              <a:pPr/>
              <a:t>4</a:t>
            </a:fld>
            <a:endParaRPr lang="en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E9E278-9B6C-9D49-ADE7-CBCDA4BE1E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2000" y="1585914"/>
            <a:ext cx="7560000" cy="2982962"/>
          </a:xfrm>
        </p:spPr>
        <p:txBody>
          <a:bodyPr>
            <a:noAutofit/>
          </a:bodyPr>
          <a:lstStyle/>
          <a:p>
            <a:pPr algn="just"/>
            <a:r>
              <a:rPr lang="cs-CZ" sz="1200" dirty="0"/>
              <a:t>Interference světla pro přesné určení polohy</a:t>
            </a:r>
          </a:p>
          <a:p>
            <a:pPr algn="just"/>
            <a:r>
              <a:rPr lang="cs-CZ" sz="1200" dirty="0"/>
              <a:t>Snímání obrazu zaměřovací kamerou</a:t>
            </a:r>
          </a:p>
          <a:p>
            <a:pPr algn="just"/>
            <a:r>
              <a:rPr lang="cs-CZ" sz="1200" dirty="0"/>
              <a:t>Detekce polohy vzorku pomocí algoritmu</a:t>
            </a:r>
          </a:p>
        </p:txBody>
      </p:sp>
      <p:sp>
        <p:nvSpPr>
          <p:cNvPr id="12" name="Zástupný symbol pro zápatí 11">
            <a:extLst>
              <a:ext uri="{FF2B5EF4-FFF2-40B4-BE49-F238E27FC236}">
                <a16:creationId xmlns:a16="http://schemas.microsoft.com/office/drawing/2014/main" id="{D562D4B5-BE4B-BA50-C385-E85CA2E84B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99" y="209500"/>
            <a:ext cx="7560000" cy="365125"/>
          </a:xfrm>
        </p:spPr>
        <p:txBody>
          <a:bodyPr/>
          <a:lstStyle/>
          <a:p>
            <a:r>
              <a:rPr lang="cs-CZ" dirty="0"/>
              <a:t>Vývoj algoritmu zarovnávání optických elementů s využitím obrazových dat ze zaměřovací kamery interferometru</a:t>
            </a:r>
          </a:p>
        </p:txBody>
      </p:sp>
      <p:sp>
        <p:nvSpPr>
          <p:cNvPr id="18" name="Zástupný symbol pro datum 17">
            <a:extLst>
              <a:ext uri="{FF2B5EF4-FFF2-40B4-BE49-F238E27FC236}">
                <a16:creationId xmlns:a16="http://schemas.microsoft.com/office/drawing/2014/main" id="{E76426F3-C1F0-437B-2357-03A83CC87A0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E039954-0893-4AC6-8021-245AB753B716}" type="datetime1">
              <a:rPr lang="cs-CZ" smtClean="0"/>
              <a:t>18.02.2026</a:t>
            </a:fld>
            <a:endParaRPr lang="cs-CZ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8C6BD3-1CC5-C081-3981-6C3F5CDF70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9628" y="1906284"/>
            <a:ext cx="4315427" cy="2534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648232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124EA-707E-0C66-3492-EC09DD414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56BDE-60E5-4FC6-E18C-B5FC4AE1E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999" y="892969"/>
            <a:ext cx="7560000" cy="560249"/>
          </a:xfrm>
        </p:spPr>
        <p:txBody>
          <a:bodyPr>
            <a:noAutofit/>
          </a:bodyPr>
          <a:lstStyle/>
          <a:p>
            <a:r>
              <a:rPr lang="cs-CZ" sz="2400" dirty="0"/>
              <a:t>Návrh architektury softwaru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DDE78F-0596-A3E0-9924-1AA05CC217B9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8684345" y="4700819"/>
            <a:ext cx="336813" cy="318396"/>
          </a:xfrm>
        </p:spPr>
        <p:txBody>
          <a:bodyPr/>
          <a:lstStyle/>
          <a:p>
            <a:fld id="{86CB4B4D-7CA3-9044-876B-883B54F8677D}" type="slidenum">
              <a:rPr lang="en-CZ" smtClean="0"/>
              <a:pPr/>
              <a:t>5</a:t>
            </a:fld>
            <a:endParaRPr lang="en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1E4E43-3FB7-8F47-4FFA-427603F15F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2000" y="1585914"/>
            <a:ext cx="7560000" cy="2982962"/>
          </a:xfrm>
        </p:spPr>
        <p:txBody>
          <a:bodyPr>
            <a:noAutofit/>
          </a:bodyPr>
          <a:lstStyle/>
          <a:p>
            <a:pPr algn="just"/>
            <a:r>
              <a:rPr lang="cs-CZ" sz="1200" dirty="0"/>
              <a:t>Modulární návrh v C# (snadná integrace do nadřazené aplikace)</a:t>
            </a:r>
          </a:p>
          <a:p>
            <a:pPr algn="just"/>
            <a:r>
              <a:rPr lang="cs-CZ" sz="1200" dirty="0"/>
              <a:t>Oddělení vrstev: </a:t>
            </a:r>
            <a:r>
              <a:rPr lang="cs-CZ" sz="1200" b="1" dirty="0"/>
              <a:t>vstup dat → zpracování → výstup doporučení</a:t>
            </a:r>
          </a:p>
          <a:p>
            <a:pPr algn="just"/>
            <a:r>
              <a:rPr lang="it-IT" sz="1200" dirty="0"/>
              <a:t>Logování a konfigurace parametrů (pro ladění a opakovatelnost)</a:t>
            </a:r>
            <a:endParaRPr lang="cs-CZ" sz="1200" dirty="0"/>
          </a:p>
        </p:txBody>
      </p:sp>
      <p:sp>
        <p:nvSpPr>
          <p:cNvPr id="12" name="Zástupný symbol pro zápatí 11">
            <a:extLst>
              <a:ext uri="{FF2B5EF4-FFF2-40B4-BE49-F238E27FC236}">
                <a16:creationId xmlns:a16="http://schemas.microsoft.com/office/drawing/2014/main" id="{3C6D6B8A-726A-FFE2-EE90-7B32CA21A3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99" y="209500"/>
            <a:ext cx="7560000" cy="365125"/>
          </a:xfrm>
        </p:spPr>
        <p:txBody>
          <a:bodyPr/>
          <a:lstStyle/>
          <a:p>
            <a:r>
              <a:rPr lang="cs-CZ" dirty="0"/>
              <a:t>Vývoj algoritmu zarovnávání optických elementů s využitím obrazových dat ze zaměřovací kamery interferometru</a:t>
            </a:r>
          </a:p>
        </p:txBody>
      </p:sp>
      <p:sp>
        <p:nvSpPr>
          <p:cNvPr id="18" name="Zástupný symbol pro datum 17">
            <a:extLst>
              <a:ext uri="{FF2B5EF4-FFF2-40B4-BE49-F238E27FC236}">
                <a16:creationId xmlns:a16="http://schemas.microsoft.com/office/drawing/2014/main" id="{A6878FB0-F185-086D-887B-633C4C3C472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E039954-0893-4AC6-8021-245AB753B716}" type="datetime1">
              <a:rPr lang="cs-CZ" smtClean="0"/>
              <a:t>18.02.2026</a:t>
            </a:fld>
            <a:endParaRPr lang="cs-CZ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57A78D-D12B-ACFC-D089-7E369FEC7B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0273" y="789801"/>
            <a:ext cx="2552140" cy="391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947620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B84C1-52FF-B5DE-0ACD-12A107561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33E9D-9A48-90E1-0E96-3B7E9CB10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999" y="892969"/>
            <a:ext cx="7560000" cy="560249"/>
          </a:xfrm>
        </p:spPr>
        <p:txBody>
          <a:bodyPr>
            <a:noAutofit/>
          </a:bodyPr>
          <a:lstStyle/>
          <a:p>
            <a:r>
              <a:rPr lang="cs-CZ" sz="2400" dirty="0"/>
              <a:t>Implementace detekčního algoritmu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61F9A1-CE4C-ED1C-53A0-202EB33B4B69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8684345" y="4700819"/>
            <a:ext cx="336813" cy="318396"/>
          </a:xfrm>
        </p:spPr>
        <p:txBody>
          <a:bodyPr/>
          <a:lstStyle/>
          <a:p>
            <a:fld id="{86CB4B4D-7CA3-9044-876B-883B54F8677D}" type="slidenum">
              <a:rPr lang="en-CZ" smtClean="0"/>
              <a:pPr/>
              <a:t>6</a:t>
            </a:fld>
            <a:endParaRPr lang="en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10C7D1-E3AB-E79E-2011-2298558003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2000" y="1585914"/>
            <a:ext cx="7560000" cy="2982962"/>
          </a:xfrm>
        </p:spPr>
        <p:txBody>
          <a:bodyPr>
            <a:noAutofit/>
          </a:bodyPr>
          <a:lstStyle/>
          <a:p>
            <a:pPr algn="just"/>
            <a:r>
              <a:rPr lang="cs-CZ" dirty="0"/>
              <a:t>Implementace pro osy x,y</a:t>
            </a:r>
          </a:p>
        </p:txBody>
      </p:sp>
      <p:sp>
        <p:nvSpPr>
          <p:cNvPr id="12" name="Zástupný symbol pro zápatí 11">
            <a:extLst>
              <a:ext uri="{FF2B5EF4-FFF2-40B4-BE49-F238E27FC236}">
                <a16:creationId xmlns:a16="http://schemas.microsoft.com/office/drawing/2014/main" id="{4A628850-A001-E080-FAF6-9434E587D4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99" y="209500"/>
            <a:ext cx="7560000" cy="365125"/>
          </a:xfrm>
        </p:spPr>
        <p:txBody>
          <a:bodyPr/>
          <a:lstStyle/>
          <a:p>
            <a:r>
              <a:rPr lang="cs-CZ" dirty="0"/>
              <a:t>Vývoj algoritmu zarovnávání optických elementů s využitím obrazových dat ze zaměřovací kamery interferometru</a:t>
            </a:r>
          </a:p>
        </p:txBody>
      </p:sp>
      <p:sp>
        <p:nvSpPr>
          <p:cNvPr id="18" name="Zástupný symbol pro datum 17">
            <a:extLst>
              <a:ext uri="{FF2B5EF4-FFF2-40B4-BE49-F238E27FC236}">
                <a16:creationId xmlns:a16="http://schemas.microsoft.com/office/drawing/2014/main" id="{87EC3219-D763-6F5B-6124-9D3E6D44A59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E039954-0893-4AC6-8021-245AB753B716}" type="datetime1">
              <a:rPr lang="cs-CZ" smtClean="0"/>
              <a:t>18.02.2026</a:t>
            </a:fld>
            <a:endParaRPr lang="cs-CZ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B441F0-5733-7CFB-6841-769B26E51A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249" y="2239077"/>
            <a:ext cx="2657846" cy="16766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5AAA99B-8D72-97FF-62CF-C0CBE9BE7A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9493" y="2239077"/>
            <a:ext cx="2930808" cy="167663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C30D22F-4B8B-C9F0-1C28-1302941166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0699" y="1881368"/>
            <a:ext cx="2392052" cy="2392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376586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8124B-640B-819D-35C7-4CFFD63EC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653B9-15D5-7A06-42F2-9DEBA847F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999" y="892969"/>
            <a:ext cx="7560000" cy="560249"/>
          </a:xfrm>
        </p:spPr>
        <p:txBody>
          <a:bodyPr>
            <a:noAutofit/>
          </a:bodyPr>
          <a:lstStyle/>
          <a:p>
            <a:r>
              <a:rPr lang="cs-CZ" sz="2400" dirty="0"/>
              <a:t>Implementace detekčního algoritmu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CE6DFA-11E6-4089-BA2A-6F13D544C5C8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8684345" y="4700819"/>
            <a:ext cx="336813" cy="318396"/>
          </a:xfrm>
        </p:spPr>
        <p:txBody>
          <a:bodyPr/>
          <a:lstStyle/>
          <a:p>
            <a:fld id="{86CB4B4D-7CA3-9044-876B-883B54F8677D}" type="slidenum">
              <a:rPr lang="en-CZ" smtClean="0"/>
              <a:pPr/>
              <a:t>7</a:t>
            </a:fld>
            <a:endParaRPr lang="en-CZ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2062C487-C9D3-79CE-76BA-5C02F8401A5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252000" y="1585914"/>
                <a:ext cx="7560000" cy="2982962"/>
              </a:xfrm>
            </p:spPr>
            <p:txBody>
              <a:bodyPr>
                <a:noAutofit/>
              </a:bodyPr>
              <a:lstStyle/>
              <a:p>
                <a:pPr algn="just"/>
                <a:r>
                  <a:rPr lang="cs-CZ" b="0" dirty="0"/>
                  <a:t>Implementace pro osu Z</a:t>
                </a:r>
              </a:p>
              <a:p>
                <a:pPr marL="114300" indent="0" algn="just">
                  <a:buNone/>
                </a:pPr>
                <a:endParaRPr lang="cs-CZ" sz="1400" b="0" i="1" dirty="0">
                  <a:latin typeface="Cambria Math" panose="02040503050406030204" pitchFamily="18" charset="0"/>
                </a:endParaRPr>
              </a:p>
              <a:p>
                <a:pPr marL="114300" indent="0" algn="just">
                  <a:buNone/>
                </a:pPr>
                <a:r>
                  <a:rPr lang="cs-CZ" sz="1400" b="0" i="1" dirty="0">
                    <a:latin typeface="Cambria Math" panose="02040503050406030204" pitchFamily="18" charset="0"/>
                  </a:rPr>
                  <a:t>RR  -     radius referenčního bodu</a:t>
                </a:r>
              </a:p>
              <a:p>
                <a:pPr marL="114300" indent="0" algn="just">
                  <a:buNone/>
                </a:pPr>
                <a:r>
                  <a:rPr lang="cs-CZ" sz="1400" i="1" dirty="0">
                    <a:latin typeface="Cambria Math" panose="02040503050406030204" pitchFamily="18" charset="0"/>
                  </a:rPr>
                  <a:t>PZ   -    posun interferometru (Z)</a:t>
                </a:r>
              </a:p>
              <a:p>
                <a:pPr marL="114300" indent="0" algn="just">
                  <a:buNone/>
                </a:pPr>
                <a:r>
                  <a:rPr lang="cs-CZ" sz="1400" i="1" dirty="0">
                    <a:latin typeface="Cambria Math" panose="02040503050406030204" pitchFamily="18" charset="0"/>
                  </a:rPr>
                  <a:t>RV   -   radius vzorkového bodu</a:t>
                </a:r>
              </a:p>
              <a:p>
                <a:pPr marL="114300" indent="0" algn="just">
                  <a:buNone/>
                </a:pPr>
                <a:r>
                  <a:rPr lang="cs-CZ" sz="1400" b="0" i="1" dirty="0">
                    <a:latin typeface="Cambria Math" panose="02040503050406030204" pitchFamily="18" charset="0"/>
                  </a:rPr>
                  <a:t>RVS -   radius posunutého vzorkového bodu</a:t>
                </a:r>
              </a:p>
              <a:p>
                <a:pPr marL="114300" indent="0" algn="just">
                  <a:buNone/>
                </a:pPr>
                <a:r>
                  <a:rPr lang="cs-CZ" sz="1400" i="1" dirty="0">
                    <a:latin typeface="Cambria Math" panose="02040503050406030204" pitchFamily="18" charset="0"/>
                  </a:rPr>
                  <a:t>Z      -   vzdálenost mezi vzorkem </a:t>
                </a:r>
              </a:p>
              <a:p>
                <a:pPr marL="114300" indent="0" algn="just">
                  <a:buNone/>
                </a:pPr>
                <a:r>
                  <a:rPr lang="cs-CZ" sz="1400" i="1" dirty="0">
                    <a:latin typeface="Cambria Math" panose="02040503050406030204" pitchFamily="18" charset="0"/>
                  </a:rPr>
                  <a:t>             a referenšním bodem</a:t>
                </a:r>
              </a:p>
              <a:p>
                <a:pPr marL="114300" indent="0" algn="just">
                  <a:buNone/>
                </a:pPr>
                <a:endParaRPr lang="cs-CZ" sz="1400" b="0" i="1" dirty="0">
                  <a:latin typeface="Cambria Math" panose="02040503050406030204" pitchFamily="18" charset="0"/>
                </a:endParaRPr>
              </a:p>
              <a:p>
                <a:pPr marL="114300" indent="0" algn="just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cs-CZ" sz="1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pt-BR" sz="14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cs-CZ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cs-CZ" sz="1400" b="0" i="1" smtClean="0">
                              <a:latin typeface="Cambria Math" panose="02040503050406030204" pitchFamily="18" charset="0"/>
                            </a:rPr>
                            <m:t>𝑃𝑍</m:t>
                          </m:r>
                          <m:r>
                            <a:rPr lang="cs-CZ" sz="1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cs-CZ" sz="1400" i="1">
                              <a:latin typeface="Cambria Math" panose="02040503050406030204" pitchFamily="18" charset="0"/>
                            </a:rPr>
                            <m:t>𝑅𝑅</m:t>
                          </m:r>
                          <m:r>
                            <a:rPr lang="cs-CZ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cs-CZ" sz="1400" i="1">
                              <a:latin typeface="Cambria Math" panose="02040503050406030204" pitchFamily="18" charset="0"/>
                            </a:rPr>
                            <m:t>𝑅𝑉𝑆</m:t>
                          </m:r>
                          <m:r>
                            <a:rPr lang="cs-CZ" sz="1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cs-CZ" sz="1400" i="1">
                              <a:latin typeface="Cambria Math" panose="02040503050406030204" pitchFamily="18" charset="0"/>
                            </a:rPr>
                            <m:t>𝑅𝑉</m:t>
                          </m:r>
                          <m:r>
                            <a:rPr lang="cs-CZ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cs-CZ" sz="1400" i="1">
                              <a:latin typeface="Cambria Math" panose="02040503050406030204" pitchFamily="18" charset="0"/>
                            </a:rPr>
                            <m:t>𝑅𝑉𝑆</m:t>
                          </m:r>
                        </m:den>
                      </m:f>
                    </m:oMath>
                  </m:oMathPara>
                </a14:m>
                <a:endParaRPr lang="cs-CZ" sz="1400" dirty="0"/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2062C487-C9D3-79CE-76BA-5C02F8401A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52000" y="1585914"/>
                <a:ext cx="7560000" cy="2982962"/>
              </a:xfrm>
              <a:blipFill>
                <a:blip r:embed="rId2"/>
                <a:stretch>
                  <a:fillRect l="-161"/>
                </a:stretch>
              </a:blipFill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Zástupný symbol pro zápatí 11">
            <a:extLst>
              <a:ext uri="{FF2B5EF4-FFF2-40B4-BE49-F238E27FC236}">
                <a16:creationId xmlns:a16="http://schemas.microsoft.com/office/drawing/2014/main" id="{BD73AAE1-D7B1-E7C4-30BC-23578883CE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99" y="209500"/>
            <a:ext cx="7560000" cy="365125"/>
          </a:xfrm>
        </p:spPr>
        <p:txBody>
          <a:bodyPr/>
          <a:lstStyle/>
          <a:p>
            <a:r>
              <a:rPr lang="cs-CZ" dirty="0"/>
              <a:t>Vývoj algoritmu zarovnávání optických elementů s využitím obrazových dat ze zaměřovací kamery interferometru</a:t>
            </a:r>
          </a:p>
        </p:txBody>
      </p:sp>
      <p:sp>
        <p:nvSpPr>
          <p:cNvPr id="18" name="Zástupný symbol pro datum 17">
            <a:extLst>
              <a:ext uri="{FF2B5EF4-FFF2-40B4-BE49-F238E27FC236}">
                <a16:creationId xmlns:a16="http://schemas.microsoft.com/office/drawing/2014/main" id="{8B80FB6C-F280-03C9-0503-E463C997555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E039954-0893-4AC6-8021-245AB753B716}" type="datetime1">
              <a:rPr lang="cs-CZ" smtClean="0"/>
              <a:t>18.02.2026</a:t>
            </a:fld>
            <a:endParaRPr lang="cs-CZ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06B7E4-DFBE-6F53-5CE4-43CA2EEEEB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7606" y="1422303"/>
            <a:ext cx="3714706" cy="3310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585592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BC621-A19A-FD59-9F12-D2043FEC7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DBB7A-D3C8-0DE1-1C10-3C4736552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999" y="892969"/>
            <a:ext cx="7560000" cy="560249"/>
          </a:xfrm>
        </p:spPr>
        <p:txBody>
          <a:bodyPr>
            <a:noAutofit/>
          </a:bodyPr>
          <a:lstStyle/>
          <a:p>
            <a:r>
              <a:rPr lang="cs-CZ" sz="2400" dirty="0"/>
              <a:t>Testování a optimalizace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01C5AC-F19E-D797-5CAC-C9B2493F0AD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8684345" y="4700819"/>
            <a:ext cx="336813" cy="318396"/>
          </a:xfrm>
        </p:spPr>
        <p:txBody>
          <a:bodyPr/>
          <a:lstStyle/>
          <a:p>
            <a:fld id="{86CB4B4D-7CA3-9044-876B-883B54F8677D}" type="slidenum">
              <a:rPr lang="en-CZ" smtClean="0"/>
              <a:pPr/>
              <a:t>8</a:t>
            </a:fld>
            <a:endParaRPr lang="en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B76D91-FA33-7C17-515A-8230EE3341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2000" y="1585914"/>
            <a:ext cx="7560000" cy="2982962"/>
          </a:xfrm>
        </p:spPr>
        <p:txBody>
          <a:bodyPr>
            <a:noAutofit/>
          </a:bodyPr>
          <a:lstStyle/>
          <a:p>
            <a:pPr algn="just"/>
            <a:r>
              <a:rPr lang="cs-CZ" dirty="0"/>
              <a:t>Testování algoritmu na simulovaných a reálných datech</a:t>
            </a:r>
          </a:p>
          <a:p>
            <a:pPr algn="just"/>
            <a:r>
              <a:rPr lang="cs-CZ" dirty="0"/>
              <a:t>Ověření funkčnosti detekce stopy vzorku</a:t>
            </a:r>
          </a:p>
          <a:p>
            <a:pPr algn="just"/>
            <a:r>
              <a:rPr lang="cs-CZ" dirty="0"/>
              <a:t>Ladění parametrů pro zvýšení stability</a:t>
            </a:r>
          </a:p>
          <a:p>
            <a:pPr algn="just"/>
            <a:r>
              <a:rPr lang="cs-CZ" dirty="0"/>
              <a:t>Optimalizace výpočetní rychlosti</a:t>
            </a:r>
            <a:endParaRPr lang="cs-CZ" b="0" dirty="0"/>
          </a:p>
        </p:txBody>
      </p:sp>
      <p:sp>
        <p:nvSpPr>
          <p:cNvPr id="12" name="Zástupný symbol pro zápatí 11">
            <a:extLst>
              <a:ext uri="{FF2B5EF4-FFF2-40B4-BE49-F238E27FC236}">
                <a16:creationId xmlns:a16="http://schemas.microsoft.com/office/drawing/2014/main" id="{E958AEB0-A856-A209-D5D2-75BF288272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99" y="209500"/>
            <a:ext cx="7560000" cy="365125"/>
          </a:xfrm>
        </p:spPr>
        <p:txBody>
          <a:bodyPr/>
          <a:lstStyle/>
          <a:p>
            <a:r>
              <a:rPr lang="cs-CZ" dirty="0"/>
              <a:t>Vývoj algoritmu zarovnávání optických elementů s využitím obrazových dat ze zaměřovací kamery interferometru</a:t>
            </a:r>
          </a:p>
        </p:txBody>
      </p:sp>
      <p:sp>
        <p:nvSpPr>
          <p:cNvPr id="18" name="Zástupný symbol pro datum 17">
            <a:extLst>
              <a:ext uri="{FF2B5EF4-FFF2-40B4-BE49-F238E27FC236}">
                <a16:creationId xmlns:a16="http://schemas.microsoft.com/office/drawing/2014/main" id="{740FF797-73A9-CEFA-7BEB-FF01BD13F5E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E039954-0893-4AC6-8021-245AB753B716}" type="datetime1">
              <a:rPr lang="cs-CZ" smtClean="0"/>
              <a:t>18.02.2026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695542150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8BAEA-3834-BE57-5340-7BBC4CD1B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17EAC-FB6A-C679-93FB-BBB76BB67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999" y="892969"/>
            <a:ext cx="7560000" cy="560249"/>
          </a:xfrm>
        </p:spPr>
        <p:txBody>
          <a:bodyPr>
            <a:noAutofit/>
          </a:bodyPr>
          <a:lstStyle/>
          <a:p>
            <a:r>
              <a:rPr lang="cs-CZ" sz="2400" dirty="0"/>
              <a:t>Vyhodnocení výsledků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8B371B-F252-EA1D-312D-C6C82953367E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8684345" y="4700819"/>
            <a:ext cx="336813" cy="318396"/>
          </a:xfrm>
        </p:spPr>
        <p:txBody>
          <a:bodyPr/>
          <a:lstStyle/>
          <a:p>
            <a:fld id="{86CB4B4D-7CA3-9044-876B-883B54F8677D}" type="slidenum">
              <a:rPr lang="en-CZ" smtClean="0"/>
              <a:pPr/>
              <a:t>9</a:t>
            </a:fld>
            <a:endParaRPr lang="en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D35842-56F2-B8CE-44BB-846ED27B3A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2000" y="1585914"/>
            <a:ext cx="7560000" cy="2982962"/>
          </a:xfrm>
        </p:spPr>
        <p:txBody>
          <a:bodyPr>
            <a:noAutofit/>
          </a:bodyPr>
          <a:lstStyle/>
          <a:p>
            <a:pPr algn="just"/>
            <a:r>
              <a:rPr lang="cs-CZ" dirty="0"/>
              <a:t>Ověření přesnosti detekce polohy</a:t>
            </a:r>
          </a:p>
          <a:p>
            <a:pPr algn="just"/>
            <a:r>
              <a:rPr lang="cs-CZ" dirty="0"/>
              <a:t>Dosažená přesnost přibližně 0,01 mm</a:t>
            </a:r>
          </a:p>
          <a:p>
            <a:pPr algn="just"/>
            <a:r>
              <a:rPr lang="cs-CZ" dirty="0"/>
              <a:t>Posouzení robustnosti algoritmu</a:t>
            </a:r>
          </a:p>
          <a:p>
            <a:pPr algn="just"/>
            <a:r>
              <a:rPr lang="cs-CZ" dirty="0"/>
              <a:t>Vyhodnocení časové náročnosti výpočtu</a:t>
            </a:r>
          </a:p>
        </p:txBody>
      </p:sp>
      <p:sp>
        <p:nvSpPr>
          <p:cNvPr id="12" name="Zástupný symbol pro zápatí 11">
            <a:extLst>
              <a:ext uri="{FF2B5EF4-FFF2-40B4-BE49-F238E27FC236}">
                <a16:creationId xmlns:a16="http://schemas.microsoft.com/office/drawing/2014/main" id="{B0714987-BC0D-96A4-4A4C-8DE6C57ECB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99" y="209500"/>
            <a:ext cx="7560000" cy="365125"/>
          </a:xfrm>
        </p:spPr>
        <p:txBody>
          <a:bodyPr/>
          <a:lstStyle/>
          <a:p>
            <a:r>
              <a:rPr lang="cs-CZ" dirty="0"/>
              <a:t>Vývoj algoritmu zarovnávání optických elementů s využitím obrazových dat ze zaměřovací kamery interferometru</a:t>
            </a:r>
          </a:p>
        </p:txBody>
      </p:sp>
      <p:sp>
        <p:nvSpPr>
          <p:cNvPr id="18" name="Zástupný symbol pro datum 17">
            <a:extLst>
              <a:ext uri="{FF2B5EF4-FFF2-40B4-BE49-F238E27FC236}">
                <a16:creationId xmlns:a16="http://schemas.microsoft.com/office/drawing/2014/main" id="{82FE48BF-71B9-DF3F-73D4-E663B36BF64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E039954-0893-4AC6-8021-245AB753B716}" type="datetime1">
              <a:rPr lang="cs-CZ" smtClean="0"/>
              <a:t>18.02.2026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305830501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B1001-69F9-F3B6-B336-9F1BA6D77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9157D-83C6-0646-71D6-4B7745CEB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999" y="892969"/>
            <a:ext cx="7560000" cy="560249"/>
          </a:xfrm>
        </p:spPr>
        <p:txBody>
          <a:bodyPr>
            <a:noAutofit/>
          </a:bodyPr>
          <a:lstStyle/>
          <a:p>
            <a:r>
              <a:rPr lang="cs-CZ" sz="2400" dirty="0"/>
              <a:t>Závěr a přínosy práce</a:t>
            </a:r>
            <a:endParaRPr lang="en-CZ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5B9F5E-C1AD-7E13-EA0A-12218627DC2E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8684345" y="4700819"/>
            <a:ext cx="336813" cy="318396"/>
          </a:xfrm>
        </p:spPr>
        <p:txBody>
          <a:bodyPr/>
          <a:lstStyle/>
          <a:p>
            <a:fld id="{86CB4B4D-7CA3-9044-876B-883B54F8677D}" type="slidenum">
              <a:rPr lang="en-CZ" smtClean="0"/>
              <a:pPr/>
              <a:t>10</a:t>
            </a:fld>
            <a:endParaRPr lang="en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A81C81-5EB9-0134-CF98-26397E4B92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2000" y="1585914"/>
            <a:ext cx="7560000" cy="2982962"/>
          </a:xfrm>
        </p:spPr>
        <p:txBody>
          <a:bodyPr>
            <a:noAutofit/>
          </a:bodyPr>
          <a:lstStyle/>
          <a:p>
            <a:pPr marL="114300" indent="0" algn="just">
              <a:buNone/>
            </a:pPr>
            <a:r>
              <a:rPr lang="cs-CZ" dirty="0"/>
              <a:t>Byl vytvořen modul pro detekci polohy vzorku ze zaměřovací kamery interferometru a návrh korekce jeho zarovnání. Řešení dosahuje požadované přesnosti a je připravené pro integraci do měřicího systému.</a:t>
            </a:r>
          </a:p>
        </p:txBody>
      </p:sp>
      <p:sp>
        <p:nvSpPr>
          <p:cNvPr id="12" name="Zástupný symbol pro zápatí 11">
            <a:extLst>
              <a:ext uri="{FF2B5EF4-FFF2-40B4-BE49-F238E27FC236}">
                <a16:creationId xmlns:a16="http://schemas.microsoft.com/office/drawing/2014/main" id="{EA949AC8-A401-CC37-FBE8-CB39C3AB0B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99" y="209500"/>
            <a:ext cx="7560000" cy="365125"/>
          </a:xfrm>
        </p:spPr>
        <p:txBody>
          <a:bodyPr/>
          <a:lstStyle/>
          <a:p>
            <a:r>
              <a:rPr lang="cs-CZ" dirty="0"/>
              <a:t>Vývoj algoritmu zarovnávání optických elementů s využitím obrazových dat ze zaměřovací kamery interferometru</a:t>
            </a:r>
          </a:p>
        </p:txBody>
      </p:sp>
      <p:sp>
        <p:nvSpPr>
          <p:cNvPr id="18" name="Zástupný symbol pro datum 17">
            <a:extLst>
              <a:ext uri="{FF2B5EF4-FFF2-40B4-BE49-F238E27FC236}">
                <a16:creationId xmlns:a16="http://schemas.microsoft.com/office/drawing/2014/main" id="{5E06A05D-F8B4-90FA-DBD0-8160E313358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E039954-0893-4AC6-8021-245AB753B716}" type="datetime1">
              <a:rPr lang="cs-CZ" smtClean="0"/>
              <a:t>18.02.2026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150914633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8AF9B-16C5-6568-125E-16187492D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E2947-10B0-6586-D6FB-3F8AD80B0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999" y="892969"/>
            <a:ext cx="7560000" cy="560249"/>
          </a:xfrm>
        </p:spPr>
        <p:txBody>
          <a:bodyPr>
            <a:noAutofit/>
          </a:bodyPr>
          <a:lstStyle/>
          <a:p>
            <a:r>
              <a:rPr lang="cs-CZ" sz="2400" dirty="0"/>
              <a:t>Reference</a:t>
            </a:r>
            <a:endParaRPr lang="en-CZ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27AD22-F539-C605-9846-C1FC6BE0FFE3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8684345" y="4700819"/>
            <a:ext cx="336813" cy="318396"/>
          </a:xfrm>
        </p:spPr>
        <p:txBody>
          <a:bodyPr/>
          <a:lstStyle/>
          <a:p>
            <a:fld id="{86CB4B4D-7CA3-9044-876B-883B54F8677D}" type="slidenum">
              <a:rPr lang="en-CZ" smtClean="0"/>
              <a:pPr/>
              <a:t>11</a:t>
            </a:fld>
            <a:endParaRPr lang="en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DB36AB-0A63-B053-3EE6-4E994D237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2000" y="1585914"/>
            <a:ext cx="7560000" cy="2982962"/>
          </a:xfrm>
        </p:spPr>
        <p:txBody>
          <a:bodyPr>
            <a:noAutofit/>
          </a:bodyPr>
          <a:lstStyle/>
          <a:p>
            <a:r>
              <a:rPr lang="cs-CZ" sz="1400" dirty="0"/>
              <a:t>Kawashima, N., Kondo, Y., Hirai, A., Bitou, Y.</a:t>
            </a:r>
            <a:br>
              <a:rPr lang="cs-CZ" sz="1400" dirty="0"/>
            </a:br>
            <a:r>
              <a:rPr lang="cs-CZ" sz="1400" i="1" dirty="0"/>
              <a:t>Novel analysis of alignment error on spherical Fizeau interferometer and uncertainty evaluation of sphericity calibration system based on random ball test.</a:t>
            </a:r>
            <a:br>
              <a:rPr lang="cs-CZ" sz="1400" dirty="0"/>
            </a:br>
            <a:r>
              <a:rPr lang="cs-CZ" sz="1400" dirty="0"/>
              <a:t>Optics and Lasers in Engineering, 2025.</a:t>
            </a:r>
          </a:p>
          <a:p>
            <a:r>
              <a:rPr lang="cs-CZ" sz="1400" dirty="0"/>
              <a:t>Malacara, D. (Ed.).</a:t>
            </a:r>
            <a:br>
              <a:rPr lang="cs-CZ" sz="1400" dirty="0"/>
            </a:br>
            <a:r>
              <a:rPr lang="cs-CZ" sz="1400" i="1" dirty="0"/>
              <a:t>Optical Shop Testing.</a:t>
            </a:r>
            <a:r>
              <a:rPr lang="cs-CZ" sz="1400" dirty="0"/>
              <a:t> 3rd ed., Wiley, 2007.</a:t>
            </a:r>
          </a:p>
          <a:p>
            <a:r>
              <a:rPr lang="cs-CZ" sz="1400" dirty="0"/>
              <a:t>Li, J., Quan, H., Jin, C., Liu, J., Zhu, X., Wang, J., Hu, S.</a:t>
            </a:r>
            <a:br>
              <a:rPr lang="cs-CZ" sz="1400" dirty="0"/>
            </a:br>
            <a:r>
              <a:rPr lang="cs-CZ" sz="1400" i="1" dirty="0"/>
              <a:t>A Model-Based Approach for Measuring Wavefront Aberrations Using Random Ball Residual Compensation.</a:t>
            </a:r>
            <a:br>
              <a:rPr lang="cs-CZ" sz="1400" dirty="0"/>
            </a:br>
            <a:r>
              <a:rPr lang="cs-CZ" sz="1400" dirty="0"/>
              <a:t>Photonics, 2023.</a:t>
            </a:r>
          </a:p>
          <a:p>
            <a:pPr marL="114300" indent="0" algn="just">
              <a:buNone/>
            </a:pPr>
            <a:endParaRPr lang="cs-CZ" dirty="0"/>
          </a:p>
        </p:txBody>
      </p:sp>
      <p:sp>
        <p:nvSpPr>
          <p:cNvPr id="12" name="Zástupný symbol pro zápatí 11">
            <a:extLst>
              <a:ext uri="{FF2B5EF4-FFF2-40B4-BE49-F238E27FC236}">
                <a16:creationId xmlns:a16="http://schemas.microsoft.com/office/drawing/2014/main" id="{DF434AB1-6F34-9323-40E3-DA5E353BCD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99" y="209500"/>
            <a:ext cx="7560000" cy="365125"/>
          </a:xfrm>
        </p:spPr>
        <p:txBody>
          <a:bodyPr/>
          <a:lstStyle/>
          <a:p>
            <a:r>
              <a:rPr lang="cs-CZ" dirty="0"/>
              <a:t>Vývoj algoritmu zarovnávání optických elementů s využitím obrazových dat ze zaměřovací kamery interferometru</a:t>
            </a:r>
          </a:p>
        </p:txBody>
      </p:sp>
      <p:sp>
        <p:nvSpPr>
          <p:cNvPr id="18" name="Zástupný symbol pro datum 17">
            <a:extLst>
              <a:ext uri="{FF2B5EF4-FFF2-40B4-BE49-F238E27FC236}">
                <a16:creationId xmlns:a16="http://schemas.microsoft.com/office/drawing/2014/main" id="{F829A724-DF91-40CD-51B1-E40A401D4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E039954-0893-4AC6-8021-245AB753B716}" type="datetime1">
              <a:rPr lang="cs-CZ" smtClean="0"/>
              <a:t>18.02.2026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56142581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2E07845-6198-AF48-9339-1C648FC1AFF9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118800" y="3672909"/>
            <a:ext cx="7560001" cy="1218591"/>
          </a:xfrm>
        </p:spPr>
        <p:txBody>
          <a:bodyPr/>
          <a:lstStyle/>
          <a:p>
            <a:r>
              <a:rPr lang="cs-CZ" dirty="0"/>
              <a:t>Ondřej Donát</a:t>
            </a:r>
          </a:p>
          <a:p>
            <a:r>
              <a:rPr lang="cs-CZ" dirty="0"/>
              <a:t>Student</a:t>
            </a:r>
          </a:p>
          <a:p>
            <a:endParaRPr lang="cs-CZ" dirty="0"/>
          </a:p>
          <a:p>
            <a:endParaRPr lang="cs-CZ" dirty="0"/>
          </a:p>
          <a:p>
            <a:r>
              <a:rPr lang="cs-CZ" dirty="0"/>
              <a:t>ondrej.donat@tul.cz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FE6B1C1-900E-C94C-B7F9-DE5CD093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999" y="1470590"/>
            <a:ext cx="7560000" cy="1661409"/>
          </a:xfrm>
        </p:spPr>
        <p:txBody>
          <a:bodyPr>
            <a:normAutofit/>
          </a:bodyPr>
          <a:lstStyle/>
          <a:p>
            <a:r>
              <a:rPr lang="cs-CZ" dirty="0"/>
              <a:t>Děkuji za pozornost</a:t>
            </a:r>
          </a:p>
        </p:txBody>
      </p:sp>
    </p:spTree>
    <p:extLst>
      <p:ext uri="{BB962C8B-B14F-4D97-AF65-F5344CB8AC3E}">
        <p14:creationId xmlns:p14="http://schemas.microsoft.com/office/powerpoint/2010/main" val="3946490105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Simple Light">
  <a:themeElements>
    <a:clrScheme name="FM TUL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EA7603"/>
      </a:accent1>
      <a:accent2>
        <a:srgbClr val="212121"/>
      </a:accent2>
      <a:accent3>
        <a:srgbClr val="78909C"/>
      </a:accent3>
      <a:accent4>
        <a:srgbClr val="8F6024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FAB40"/>
      </a:accent1>
      <a:accent2>
        <a:srgbClr val="212121"/>
      </a:accent2>
      <a:accent3>
        <a:srgbClr val="78909C"/>
      </a:accent3>
      <a:accent4>
        <a:srgbClr val="8F6024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738</TotalTime>
  <Words>563</Words>
  <Application>Microsoft Office PowerPoint</Application>
  <PresentationFormat>On-screen Show (16:9)</PresentationFormat>
  <Paragraphs>94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 Math</vt:lpstr>
      <vt:lpstr>Inter</vt:lpstr>
      <vt:lpstr>Simple Light</vt:lpstr>
      <vt:lpstr>Vývoj algoritmu zarovnávání optických elementů s využitím obrazových dat ze zaměřovací kamery interferometru</vt:lpstr>
      <vt:lpstr>Obsah</vt:lpstr>
      <vt:lpstr>Úvod</vt:lpstr>
      <vt:lpstr>Princip interferometrie a zpracování obrazu</vt:lpstr>
      <vt:lpstr>Návrh architektury softwaru</vt:lpstr>
      <vt:lpstr>Implementace detekčního algoritmu</vt:lpstr>
      <vt:lpstr>Implementace detekčního algoritmu</vt:lpstr>
      <vt:lpstr>Testování a optimalizace</vt:lpstr>
      <vt:lpstr>Vyhodnocení výsledků</vt:lpstr>
      <vt:lpstr>Závěr a přínosy práce</vt:lpstr>
      <vt:lpstr>Reference</vt:lpstr>
      <vt:lpstr>Děkuji za pozornost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FM</dc:creator>
  <cp:lastModifiedBy>Ondřej Donát</cp:lastModifiedBy>
  <cp:revision>133</cp:revision>
  <dcterms:modified xsi:type="dcterms:W3CDTF">2026-02-18T17:36:23Z</dcterms:modified>
</cp:coreProperties>
</file>